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Calibri (MS)" panose="020B0604020202020204" charset="0"/>
      <p:regular r:id="rId11"/>
    </p:embeddedFont>
    <p:embeddedFont>
      <p:font typeface="Calibri (MS) Bold" panose="020B0604020202020204" charset="0"/>
      <p:regular r:id="rId12"/>
    </p:embeddedFont>
    <p:embeddedFont>
      <p:font typeface="Cambria Bold" panose="02040803050406030204" pitchFamily="18" charset="0"/>
      <p:bold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792" y="10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09.10.2026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2B35"/>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3250475" y="-1845697"/>
            <a:ext cx="5567067" cy="4824412"/>
            <a:chOff x="0" y="0"/>
            <a:chExt cx="7422756" cy="6432550"/>
          </a:xfrm>
        </p:grpSpPr>
        <p:sp>
          <p:nvSpPr>
            <p:cNvPr id="3" name="Freeform 3"/>
            <p:cNvSpPr/>
            <p:nvPr/>
          </p:nvSpPr>
          <p:spPr>
            <a:xfrm>
              <a:off x="0" y="0"/>
              <a:ext cx="7422769" cy="6432550"/>
            </a:xfrm>
            <a:custGeom>
              <a:avLst/>
              <a:gdLst/>
              <a:ahLst/>
              <a:cxnLst/>
              <a:rect l="l" t="t" r="r" b="b"/>
              <a:pathLst>
                <a:path w="7422769" h="6432550">
                  <a:moveTo>
                    <a:pt x="0" y="3216275"/>
                  </a:moveTo>
                  <a:lnTo>
                    <a:pt x="1608074" y="0"/>
                  </a:lnTo>
                  <a:lnTo>
                    <a:pt x="5814568" y="0"/>
                  </a:lnTo>
                  <a:lnTo>
                    <a:pt x="7422769" y="3216275"/>
                  </a:lnTo>
                  <a:lnTo>
                    <a:pt x="5814568" y="6432550"/>
                  </a:lnTo>
                  <a:lnTo>
                    <a:pt x="1608074" y="6432550"/>
                  </a:lnTo>
                  <a:close/>
                </a:path>
              </a:pathLst>
            </a:custGeom>
            <a:blipFill>
              <a:blip r:embed="rId3">
                <a:alphaModFix amt="0"/>
              </a:blip>
              <a:stretch>
                <a:fillRect l="-61187" r="-61187"/>
              </a:stretch>
            </a:blipFill>
            <a:ln w="23812" cap="sq">
              <a:solidFill>
                <a:srgbClr val="4FA278"/>
              </a:solidFill>
              <a:prstDash val="solid"/>
              <a:miter/>
            </a:ln>
          </p:spPr>
        </p:sp>
      </p:grpSp>
      <p:grpSp>
        <p:nvGrpSpPr>
          <p:cNvPr id="4" name="Group 4"/>
          <p:cNvGrpSpPr/>
          <p:nvPr/>
        </p:nvGrpSpPr>
        <p:grpSpPr>
          <a:xfrm rot="5400000">
            <a:off x="15774219" y="2525554"/>
            <a:ext cx="5567067" cy="4824412"/>
            <a:chOff x="0" y="0"/>
            <a:chExt cx="7422756" cy="6432550"/>
          </a:xfrm>
        </p:grpSpPr>
        <p:sp>
          <p:nvSpPr>
            <p:cNvPr id="5" name="Freeform 5"/>
            <p:cNvSpPr/>
            <p:nvPr/>
          </p:nvSpPr>
          <p:spPr>
            <a:xfrm>
              <a:off x="0" y="0"/>
              <a:ext cx="7422769" cy="6432550"/>
            </a:xfrm>
            <a:custGeom>
              <a:avLst/>
              <a:gdLst/>
              <a:ahLst/>
              <a:cxnLst/>
              <a:rect l="l" t="t" r="r" b="b"/>
              <a:pathLst>
                <a:path w="7422769" h="6432550">
                  <a:moveTo>
                    <a:pt x="0" y="3216275"/>
                  </a:moveTo>
                  <a:lnTo>
                    <a:pt x="1608074" y="0"/>
                  </a:lnTo>
                  <a:lnTo>
                    <a:pt x="5814568" y="0"/>
                  </a:lnTo>
                  <a:lnTo>
                    <a:pt x="7422769" y="3216275"/>
                  </a:lnTo>
                  <a:lnTo>
                    <a:pt x="5814568" y="6432550"/>
                  </a:lnTo>
                  <a:lnTo>
                    <a:pt x="1608074" y="6432550"/>
                  </a:lnTo>
                  <a:close/>
                </a:path>
              </a:pathLst>
            </a:custGeom>
            <a:solidFill>
              <a:srgbClr val="026855">
                <a:alpha val="5882"/>
              </a:srgbClr>
            </a:solidFill>
            <a:ln w="23812" cap="sq">
              <a:solidFill>
                <a:srgbClr val="4FA278"/>
              </a:solidFill>
              <a:prstDash val="solid"/>
              <a:miter/>
            </a:ln>
          </p:spPr>
        </p:sp>
      </p:grpSp>
      <p:grpSp>
        <p:nvGrpSpPr>
          <p:cNvPr id="6" name="Group 6"/>
          <p:cNvGrpSpPr/>
          <p:nvPr/>
        </p:nvGrpSpPr>
        <p:grpSpPr>
          <a:xfrm rot="5400000">
            <a:off x="13250475" y="6896805"/>
            <a:ext cx="5567067" cy="4824412"/>
            <a:chOff x="0" y="0"/>
            <a:chExt cx="7422756" cy="6432550"/>
          </a:xfrm>
        </p:grpSpPr>
        <p:sp>
          <p:nvSpPr>
            <p:cNvPr id="7" name="Freeform 7"/>
            <p:cNvSpPr/>
            <p:nvPr/>
          </p:nvSpPr>
          <p:spPr>
            <a:xfrm>
              <a:off x="0" y="0"/>
              <a:ext cx="7422769" cy="6432550"/>
            </a:xfrm>
            <a:custGeom>
              <a:avLst/>
              <a:gdLst/>
              <a:ahLst/>
              <a:cxnLst/>
              <a:rect l="l" t="t" r="r" b="b"/>
              <a:pathLst>
                <a:path w="7422769" h="6432550">
                  <a:moveTo>
                    <a:pt x="0" y="3216275"/>
                  </a:moveTo>
                  <a:lnTo>
                    <a:pt x="1608074" y="0"/>
                  </a:lnTo>
                  <a:lnTo>
                    <a:pt x="5814568" y="0"/>
                  </a:lnTo>
                  <a:lnTo>
                    <a:pt x="7422769" y="3216275"/>
                  </a:lnTo>
                  <a:lnTo>
                    <a:pt x="5814568" y="6432550"/>
                  </a:lnTo>
                  <a:lnTo>
                    <a:pt x="1608074" y="6432550"/>
                  </a:lnTo>
                  <a:close/>
                </a:path>
              </a:pathLst>
            </a:custGeom>
            <a:blipFill>
              <a:blip r:embed="rId3">
                <a:alphaModFix amt="0"/>
              </a:blip>
              <a:stretch>
                <a:fillRect l="-61187" r="-61187"/>
              </a:stretch>
            </a:blipFill>
            <a:ln w="23812" cap="sq">
              <a:solidFill>
                <a:srgbClr val="4FA278"/>
              </a:solidFill>
              <a:prstDash val="solid"/>
              <a:miter/>
            </a:ln>
          </p:spPr>
        </p:sp>
      </p:grpSp>
      <p:grpSp>
        <p:nvGrpSpPr>
          <p:cNvPr id="8" name="Group 8"/>
          <p:cNvGrpSpPr/>
          <p:nvPr/>
        </p:nvGrpSpPr>
        <p:grpSpPr>
          <a:xfrm rot="5400000">
            <a:off x="9920040" y="4766310"/>
            <a:ext cx="871080" cy="754380"/>
            <a:chOff x="0" y="0"/>
            <a:chExt cx="1161440" cy="1005840"/>
          </a:xfrm>
        </p:grpSpPr>
        <p:sp>
          <p:nvSpPr>
            <p:cNvPr id="9" name="Freeform 9"/>
            <p:cNvSpPr/>
            <p:nvPr/>
          </p:nvSpPr>
          <p:spPr>
            <a:xfrm>
              <a:off x="0" y="0"/>
              <a:ext cx="1161415" cy="1005840"/>
            </a:xfrm>
            <a:custGeom>
              <a:avLst/>
              <a:gdLst/>
              <a:ahLst/>
              <a:cxnLst/>
              <a:rect l="l" t="t" r="r" b="b"/>
              <a:pathLst>
                <a:path w="1161415" h="1005840">
                  <a:moveTo>
                    <a:pt x="0" y="502920"/>
                  </a:moveTo>
                  <a:lnTo>
                    <a:pt x="251460" y="0"/>
                  </a:lnTo>
                  <a:lnTo>
                    <a:pt x="909955" y="0"/>
                  </a:lnTo>
                  <a:lnTo>
                    <a:pt x="1161415" y="502920"/>
                  </a:lnTo>
                  <a:lnTo>
                    <a:pt x="909955" y="1005840"/>
                  </a:lnTo>
                  <a:lnTo>
                    <a:pt x="251460" y="1005840"/>
                  </a:lnTo>
                  <a:close/>
                </a:path>
              </a:pathLst>
            </a:custGeom>
            <a:solidFill>
              <a:srgbClr val="7AC143"/>
            </a:solidFill>
          </p:spPr>
        </p:sp>
      </p:grpSp>
      <p:grpSp>
        <p:nvGrpSpPr>
          <p:cNvPr id="10" name="Group 10"/>
          <p:cNvGrpSpPr/>
          <p:nvPr/>
        </p:nvGrpSpPr>
        <p:grpSpPr>
          <a:xfrm rot="5400000">
            <a:off x="16274377" y="2592324"/>
            <a:ext cx="506816" cy="438912"/>
            <a:chOff x="0" y="0"/>
            <a:chExt cx="675754" cy="585216"/>
          </a:xfrm>
        </p:grpSpPr>
        <p:sp>
          <p:nvSpPr>
            <p:cNvPr id="11" name="Freeform 11"/>
            <p:cNvSpPr/>
            <p:nvPr/>
          </p:nvSpPr>
          <p:spPr>
            <a:xfrm>
              <a:off x="0" y="0"/>
              <a:ext cx="675767" cy="585216"/>
            </a:xfrm>
            <a:custGeom>
              <a:avLst/>
              <a:gdLst/>
              <a:ahLst/>
              <a:cxnLst/>
              <a:rect l="l" t="t" r="r" b="b"/>
              <a:pathLst>
                <a:path w="675767" h="585216">
                  <a:moveTo>
                    <a:pt x="0" y="292608"/>
                  </a:moveTo>
                  <a:lnTo>
                    <a:pt x="146304" y="0"/>
                  </a:lnTo>
                  <a:lnTo>
                    <a:pt x="529463" y="0"/>
                  </a:lnTo>
                  <a:lnTo>
                    <a:pt x="675767" y="292608"/>
                  </a:lnTo>
                  <a:lnTo>
                    <a:pt x="529463" y="585216"/>
                  </a:lnTo>
                  <a:lnTo>
                    <a:pt x="146304" y="585216"/>
                  </a:lnTo>
                  <a:close/>
                </a:path>
              </a:pathLst>
            </a:custGeom>
            <a:solidFill>
              <a:srgbClr val="7AC143">
                <a:alpha val="48627"/>
              </a:srgbClr>
            </a:solidFill>
          </p:spPr>
        </p:sp>
      </p:grpSp>
      <p:grpSp>
        <p:nvGrpSpPr>
          <p:cNvPr id="12" name="Group 12"/>
          <p:cNvGrpSpPr/>
          <p:nvPr/>
        </p:nvGrpSpPr>
        <p:grpSpPr>
          <a:xfrm rot="5400000">
            <a:off x="10303088" y="2160270"/>
            <a:ext cx="6414335" cy="5554980"/>
            <a:chOff x="0" y="0"/>
            <a:chExt cx="8552447" cy="7406640"/>
          </a:xfrm>
        </p:grpSpPr>
        <p:sp>
          <p:nvSpPr>
            <p:cNvPr id="13" name="Freeform 13"/>
            <p:cNvSpPr/>
            <p:nvPr/>
          </p:nvSpPr>
          <p:spPr>
            <a:xfrm>
              <a:off x="0" y="0"/>
              <a:ext cx="8552434" cy="7406640"/>
            </a:xfrm>
            <a:custGeom>
              <a:avLst/>
              <a:gdLst/>
              <a:ahLst/>
              <a:cxnLst/>
              <a:rect l="l" t="t" r="r" b="b"/>
              <a:pathLst>
                <a:path w="8552434" h="7406640">
                  <a:moveTo>
                    <a:pt x="0" y="3703320"/>
                  </a:moveTo>
                  <a:lnTo>
                    <a:pt x="1851660" y="0"/>
                  </a:lnTo>
                  <a:lnTo>
                    <a:pt x="6700774" y="0"/>
                  </a:lnTo>
                  <a:lnTo>
                    <a:pt x="8552434" y="3703320"/>
                  </a:lnTo>
                  <a:lnTo>
                    <a:pt x="6700774" y="7406640"/>
                  </a:lnTo>
                  <a:lnTo>
                    <a:pt x="1851660" y="7406640"/>
                  </a:lnTo>
                  <a:close/>
                </a:path>
              </a:pathLst>
            </a:custGeom>
            <a:solidFill>
              <a:srgbClr val="026855">
                <a:alpha val="20000"/>
              </a:srgbClr>
            </a:solidFill>
          </p:spPr>
        </p:sp>
      </p:grpSp>
      <p:grpSp>
        <p:nvGrpSpPr>
          <p:cNvPr id="14" name="Group 14"/>
          <p:cNvGrpSpPr/>
          <p:nvPr/>
        </p:nvGrpSpPr>
        <p:grpSpPr>
          <a:xfrm rot="5400000">
            <a:off x="10270707" y="7257203"/>
            <a:ext cx="1295600" cy="1125855"/>
            <a:chOff x="0" y="0"/>
            <a:chExt cx="1727467" cy="1501140"/>
          </a:xfrm>
        </p:grpSpPr>
        <p:sp>
          <p:nvSpPr>
            <p:cNvPr id="15" name="Freeform 15"/>
            <p:cNvSpPr/>
            <p:nvPr/>
          </p:nvSpPr>
          <p:spPr>
            <a:xfrm>
              <a:off x="0" y="0"/>
              <a:ext cx="1727454" cy="1501140"/>
            </a:xfrm>
            <a:custGeom>
              <a:avLst/>
              <a:gdLst/>
              <a:ahLst/>
              <a:cxnLst/>
              <a:rect l="l" t="t" r="r" b="b"/>
              <a:pathLst>
                <a:path w="1727454" h="1501140">
                  <a:moveTo>
                    <a:pt x="0" y="750570"/>
                  </a:moveTo>
                  <a:lnTo>
                    <a:pt x="375285" y="0"/>
                  </a:lnTo>
                  <a:lnTo>
                    <a:pt x="1352169" y="0"/>
                  </a:lnTo>
                  <a:lnTo>
                    <a:pt x="1727454" y="750570"/>
                  </a:lnTo>
                  <a:lnTo>
                    <a:pt x="1352169" y="1501140"/>
                  </a:lnTo>
                  <a:lnTo>
                    <a:pt x="375285" y="1501140"/>
                  </a:lnTo>
                  <a:close/>
                </a:path>
              </a:pathLst>
            </a:custGeom>
            <a:blipFill>
              <a:blip r:embed="rId3">
                <a:alphaModFix amt="0"/>
              </a:blip>
              <a:stretch>
                <a:fillRect l="-61494" r="-61494"/>
              </a:stretch>
            </a:blipFill>
            <a:ln w="28575" cap="sq">
              <a:solidFill>
                <a:srgbClr val="7AC143"/>
              </a:solidFill>
              <a:prstDash val="solid"/>
              <a:miter/>
            </a:ln>
          </p:spPr>
        </p:sp>
      </p:grpSp>
      <p:grpSp>
        <p:nvGrpSpPr>
          <p:cNvPr id="16" name="Group 16"/>
          <p:cNvGrpSpPr/>
          <p:nvPr/>
        </p:nvGrpSpPr>
        <p:grpSpPr>
          <a:xfrm rot="5400000">
            <a:off x="10710062" y="2508885"/>
            <a:ext cx="5600405" cy="4857750"/>
            <a:chOff x="0" y="0"/>
            <a:chExt cx="7467206" cy="6477000"/>
          </a:xfrm>
        </p:grpSpPr>
        <p:sp>
          <p:nvSpPr>
            <p:cNvPr id="17" name="Freeform 17"/>
            <p:cNvSpPr/>
            <p:nvPr/>
          </p:nvSpPr>
          <p:spPr>
            <a:xfrm>
              <a:off x="0" y="0"/>
              <a:ext cx="7467219" cy="6477000"/>
            </a:xfrm>
            <a:custGeom>
              <a:avLst/>
              <a:gdLst/>
              <a:ahLst/>
              <a:cxnLst/>
              <a:rect l="l" t="t" r="r" b="b"/>
              <a:pathLst>
                <a:path w="7467219" h="6477000">
                  <a:moveTo>
                    <a:pt x="0" y="3238500"/>
                  </a:moveTo>
                  <a:lnTo>
                    <a:pt x="1619250" y="0"/>
                  </a:lnTo>
                  <a:lnTo>
                    <a:pt x="5847969" y="0"/>
                  </a:lnTo>
                  <a:lnTo>
                    <a:pt x="7467219" y="3238500"/>
                  </a:lnTo>
                  <a:lnTo>
                    <a:pt x="5847969" y="6477000"/>
                  </a:lnTo>
                  <a:lnTo>
                    <a:pt x="1619250" y="6477000"/>
                  </a:lnTo>
                  <a:close/>
                </a:path>
              </a:pathLst>
            </a:custGeom>
            <a:solidFill>
              <a:srgbClr val="FFFFFF"/>
            </a:solidFill>
            <a:ln w="57150" cap="sq">
              <a:solidFill>
                <a:srgbClr val="7AC143"/>
              </a:solidFill>
              <a:prstDash val="solid"/>
              <a:miter/>
            </a:ln>
          </p:spPr>
        </p:sp>
      </p:grpSp>
      <p:grpSp>
        <p:nvGrpSpPr>
          <p:cNvPr id="18" name="Group 18"/>
          <p:cNvGrpSpPr/>
          <p:nvPr/>
        </p:nvGrpSpPr>
        <p:grpSpPr>
          <a:xfrm>
            <a:off x="12166149" y="3188970"/>
            <a:ext cx="2688222" cy="3497580"/>
            <a:chOff x="0" y="0"/>
            <a:chExt cx="3584296" cy="4663440"/>
          </a:xfrm>
        </p:grpSpPr>
        <p:sp>
          <p:nvSpPr>
            <p:cNvPr id="19" name="Freeform 19" descr="Genesis logo"/>
            <p:cNvSpPr/>
            <p:nvPr/>
          </p:nvSpPr>
          <p:spPr>
            <a:xfrm>
              <a:off x="0" y="0"/>
              <a:ext cx="3584321" cy="4663440"/>
            </a:xfrm>
            <a:custGeom>
              <a:avLst/>
              <a:gdLst/>
              <a:ahLst/>
              <a:cxnLst/>
              <a:rect l="l" t="t" r="r" b="b"/>
              <a:pathLst>
                <a:path w="3584321" h="4663440">
                  <a:moveTo>
                    <a:pt x="0" y="0"/>
                  </a:moveTo>
                  <a:lnTo>
                    <a:pt x="3584321" y="0"/>
                  </a:lnTo>
                  <a:lnTo>
                    <a:pt x="3584321" y="4663440"/>
                  </a:lnTo>
                  <a:lnTo>
                    <a:pt x="0" y="4663440"/>
                  </a:lnTo>
                  <a:lnTo>
                    <a:pt x="0" y="0"/>
                  </a:lnTo>
                  <a:close/>
                </a:path>
              </a:pathLst>
            </a:custGeom>
            <a:blipFill>
              <a:blip r:embed="rId4"/>
              <a:stretch>
                <a:fillRect/>
              </a:stretch>
            </a:blipFill>
          </p:spPr>
        </p:sp>
      </p:grpSp>
      <p:grpSp>
        <p:nvGrpSpPr>
          <p:cNvPr id="20" name="Group 20"/>
          <p:cNvGrpSpPr/>
          <p:nvPr/>
        </p:nvGrpSpPr>
        <p:grpSpPr>
          <a:xfrm>
            <a:off x="822960" y="754380"/>
            <a:ext cx="7955280" cy="480060"/>
            <a:chOff x="0" y="0"/>
            <a:chExt cx="10607040" cy="640080"/>
          </a:xfrm>
        </p:grpSpPr>
        <p:sp>
          <p:nvSpPr>
            <p:cNvPr id="21" name="Freeform 21"/>
            <p:cNvSpPr/>
            <p:nvPr/>
          </p:nvSpPr>
          <p:spPr>
            <a:xfrm>
              <a:off x="0" y="0"/>
              <a:ext cx="10607040" cy="640080"/>
            </a:xfrm>
            <a:custGeom>
              <a:avLst/>
              <a:gdLst/>
              <a:ahLst/>
              <a:cxnLst/>
              <a:rect l="l" t="t" r="r" b="b"/>
              <a:pathLst>
                <a:path w="10607040" h="640080">
                  <a:moveTo>
                    <a:pt x="0" y="0"/>
                  </a:moveTo>
                  <a:lnTo>
                    <a:pt x="10607040" y="0"/>
                  </a:lnTo>
                  <a:lnTo>
                    <a:pt x="10607040" y="640080"/>
                  </a:lnTo>
                  <a:lnTo>
                    <a:pt x="0" y="640080"/>
                  </a:lnTo>
                  <a:close/>
                </a:path>
              </a:pathLst>
            </a:custGeom>
            <a:blipFill>
              <a:blip r:embed="rId3">
                <a:alphaModFix amt="0"/>
              </a:blip>
              <a:stretch>
                <a:fillRect t="-272894" b="-272894"/>
              </a:stretch>
            </a:blipFill>
          </p:spPr>
        </p:sp>
        <p:sp>
          <p:nvSpPr>
            <p:cNvPr id="22" name="TextBox 22"/>
            <p:cNvSpPr txBox="1"/>
            <p:nvPr/>
          </p:nvSpPr>
          <p:spPr>
            <a:xfrm>
              <a:off x="0" y="-38100"/>
              <a:ext cx="10607040" cy="678180"/>
            </a:xfrm>
            <a:prstGeom prst="rect">
              <a:avLst/>
            </a:prstGeom>
          </p:spPr>
          <p:txBody>
            <a:bodyPr lIns="0" tIns="0" rIns="0" bIns="0" rtlCol="0" anchor="ctr"/>
            <a:lstStyle/>
            <a:p>
              <a:pPr algn="l">
                <a:lnSpc>
                  <a:spcPts val="2160"/>
                </a:lnSpc>
              </a:pPr>
              <a:r>
                <a:rPr lang="en-US" sz="1800" b="1" spc="599">
                  <a:solidFill>
                    <a:srgbClr val="7AC143"/>
                  </a:solidFill>
                  <a:latin typeface="Calibri (MS) Bold"/>
                  <a:ea typeface="Calibri (MS) Bold"/>
                  <a:cs typeface="Calibri (MS) Bold"/>
                  <a:sym typeface="Calibri (MS) Bold"/>
                </a:rPr>
                <a:t>PRE-IDEATHON TEMPLATE</a:t>
              </a:r>
            </a:p>
          </p:txBody>
        </p:sp>
      </p:grpSp>
      <p:sp>
        <p:nvSpPr>
          <p:cNvPr id="23" name="TextBox 23"/>
          <p:cNvSpPr txBox="1"/>
          <p:nvPr/>
        </p:nvSpPr>
        <p:spPr>
          <a:xfrm>
            <a:off x="822960" y="1379220"/>
            <a:ext cx="8503920" cy="2324100"/>
          </a:xfrm>
          <a:prstGeom prst="rect">
            <a:avLst/>
          </a:prstGeom>
        </p:spPr>
        <p:txBody>
          <a:bodyPr lIns="0" tIns="0" rIns="0" bIns="0" rtlCol="0" anchor="t">
            <a:spAutoFit/>
          </a:bodyPr>
          <a:lstStyle/>
          <a:p>
            <a:pPr algn="l">
              <a:lnSpc>
                <a:spcPts val="8748"/>
              </a:lnSpc>
            </a:pPr>
            <a:r>
              <a:rPr lang="en-US" sz="8100" b="1" spc="299">
                <a:solidFill>
                  <a:srgbClr val="FFFFFF"/>
                </a:solidFill>
                <a:latin typeface="Cambria Bold"/>
                <a:ea typeface="Cambria Bold"/>
                <a:cs typeface="Cambria Bold"/>
                <a:sym typeface="Cambria Bold"/>
              </a:rPr>
              <a:t>GENESIS</a:t>
            </a:r>
          </a:p>
          <a:p>
            <a:pPr algn="l">
              <a:lnSpc>
                <a:spcPts val="8748"/>
              </a:lnSpc>
            </a:pPr>
            <a:r>
              <a:rPr lang="en-US" sz="8100" b="1" spc="299">
                <a:solidFill>
                  <a:srgbClr val="7AC143"/>
                </a:solidFill>
                <a:latin typeface="Cambria Bold"/>
                <a:ea typeface="Cambria Bold"/>
                <a:cs typeface="Cambria Bold"/>
                <a:sym typeface="Cambria Bold"/>
              </a:rPr>
              <a:t>IDEATHON</a:t>
            </a:r>
          </a:p>
        </p:txBody>
      </p:sp>
      <p:grpSp>
        <p:nvGrpSpPr>
          <p:cNvPr id="24" name="Group 24"/>
          <p:cNvGrpSpPr/>
          <p:nvPr/>
        </p:nvGrpSpPr>
        <p:grpSpPr>
          <a:xfrm>
            <a:off x="822960" y="3769995"/>
            <a:ext cx="5392572" cy="937965"/>
            <a:chOff x="0" y="0"/>
            <a:chExt cx="6213064" cy="1080678"/>
          </a:xfrm>
        </p:grpSpPr>
        <p:sp>
          <p:nvSpPr>
            <p:cNvPr id="25" name="Freeform 25"/>
            <p:cNvSpPr/>
            <p:nvPr/>
          </p:nvSpPr>
          <p:spPr>
            <a:xfrm>
              <a:off x="0" y="0"/>
              <a:ext cx="6213064" cy="1080678"/>
            </a:xfrm>
            <a:custGeom>
              <a:avLst/>
              <a:gdLst/>
              <a:ahLst/>
              <a:cxnLst/>
              <a:rect l="l" t="t" r="r" b="b"/>
              <a:pathLst>
                <a:path w="6213064" h="1080678">
                  <a:moveTo>
                    <a:pt x="0" y="540339"/>
                  </a:moveTo>
                  <a:cubicBezTo>
                    <a:pt x="0" y="241943"/>
                    <a:pt x="262524" y="0"/>
                    <a:pt x="586303" y="0"/>
                  </a:cubicBezTo>
                  <a:lnTo>
                    <a:pt x="5626761" y="0"/>
                  </a:lnTo>
                  <a:cubicBezTo>
                    <a:pt x="5950540" y="0"/>
                    <a:pt x="6213064" y="241943"/>
                    <a:pt x="6213064" y="540339"/>
                  </a:cubicBezTo>
                  <a:cubicBezTo>
                    <a:pt x="6213064" y="838735"/>
                    <a:pt x="5950540" y="1080678"/>
                    <a:pt x="5626761" y="1080678"/>
                  </a:cubicBezTo>
                  <a:lnTo>
                    <a:pt x="586303" y="1080678"/>
                  </a:lnTo>
                  <a:cubicBezTo>
                    <a:pt x="262524" y="1080678"/>
                    <a:pt x="0" y="838735"/>
                    <a:pt x="0" y="540339"/>
                  </a:cubicBezTo>
                  <a:close/>
                </a:path>
              </a:pathLst>
            </a:custGeom>
            <a:blipFill>
              <a:blip r:embed="rId3">
                <a:alphaModFix amt="0"/>
              </a:blip>
              <a:stretch>
                <a:fillRect t="-39405" r="31789" b="-13419"/>
              </a:stretch>
            </a:blipFill>
            <a:ln w="23812" cap="sq">
              <a:solidFill>
                <a:srgbClr val="7AC143"/>
              </a:solidFill>
              <a:prstDash val="solid"/>
              <a:miter/>
            </a:ln>
          </p:spPr>
        </p:sp>
        <p:sp>
          <p:nvSpPr>
            <p:cNvPr id="26" name="TextBox 26"/>
            <p:cNvSpPr txBox="1"/>
            <p:nvPr/>
          </p:nvSpPr>
          <p:spPr>
            <a:xfrm>
              <a:off x="0" y="-47625"/>
              <a:ext cx="6213064" cy="1128303"/>
            </a:xfrm>
            <a:prstGeom prst="rect">
              <a:avLst/>
            </a:prstGeom>
          </p:spPr>
          <p:txBody>
            <a:bodyPr lIns="50800" tIns="50800" rIns="50800" bIns="50800" rtlCol="0" anchor="ctr"/>
            <a:lstStyle/>
            <a:p>
              <a:pPr algn="ctr">
                <a:lnSpc>
                  <a:spcPts val="2699"/>
                </a:lnSpc>
              </a:pPr>
              <a:r>
                <a:rPr lang="en-US" sz="2249" b="1" spc="519">
                  <a:solidFill>
                    <a:srgbClr val="FFFFFF"/>
                  </a:solidFill>
                  <a:latin typeface="Calibri (MS) Bold"/>
                  <a:ea typeface="Calibri (MS) Bold"/>
                  <a:cs typeface="Calibri (MS) Bold"/>
                  <a:sym typeface="Calibri (MS) Bold"/>
                </a:rPr>
                <a:t>Team </a:t>
              </a:r>
              <a:r>
                <a:rPr lang="en-US" sz="2249" b="1" spc="519">
                  <a:solidFill>
                    <a:srgbClr val="7AC143"/>
                  </a:solidFill>
                  <a:latin typeface="Calibri (MS) Bold"/>
                  <a:ea typeface="Calibri (MS) Bold"/>
                  <a:cs typeface="Calibri (MS) Bold"/>
                  <a:sym typeface="Calibri (MS) Bold"/>
                </a:rPr>
                <a:t>AURA </a:t>
              </a:r>
              <a:r>
                <a:rPr lang="en-US" sz="2249" b="1" spc="519">
                  <a:solidFill>
                    <a:srgbClr val="FFFFFF"/>
                  </a:solidFill>
                  <a:latin typeface="Calibri (MS) Bold"/>
                  <a:ea typeface="Calibri (MS) Bold"/>
                  <a:cs typeface="Calibri (MS) Bold"/>
                  <a:sym typeface="Calibri (MS) Bold"/>
                </a:rPr>
                <a:t>| Domain </a:t>
              </a:r>
              <a:r>
                <a:rPr lang="en-US" sz="2249" b="1" spc="519">
                  <a:solidFill>
                    <a:srgbClr val="7AC143"/>
                  </a:solidFill>
                  <a:latin typeface="Calibri (MS) Bold"/>
                  <a:ea typeface="Calibri (MS) Bold"/>
                  <a:cs typeface="Calibri (MS) Bold"/>
                  <a:sym typeface="Calibri (MS) Bold"/>
                </a:rPr>
                <a:t>#6</a:t>
              </a:r>
            </a:p>
          </p:txBody>
        </p:sp>
      </p:grpSp>
      <p:sp>
        <p:nvSpPr>
          <p:cNvPr id="27" name="TextBox 27"/>
          <p:cNvSpPr txBox="1"/>
          <p:nvPr/>
        </p:nvSpPr>
        <p:spPr>
          <a:xfrm>
            <a:off x="822960" y="5029306"/>
            <a:ext cx="9532620" cy="5534025"/>
          </a:xfrm>
          <a:prstGeom prst="rect">
            <a:avLst/>
          </a:prstGeom>
        </p:spPr>
        <p:txBody>
          <a:bodyPr lIns="0" tIns="0" rIns="0" bIns="0" rtlCol="0" anchor="t">
            <a:spAutoFit/>
          </a:bodyPr>
          <a:lstStyle/>
          <a:p>
            <a:pPr marL="493534" lvl="1" indent="-246767" algn="l">
              <a:lnSpc>
                <a:spcPts val="2743"/>
              </a:lnSpc>
              <a:buFont typeface="Arial"/>
              <a:buChar char="•"/>
            </a:pPr>
            <a:r>
              <a:rPr lang="en-US" sz="2285" b="1" dirty="0">
                <a:solidFill>
                  <a:srgbClr val="7AC143"/>
                </a:solidFill>
                <a:latin typeface="Calibri (MS) Bold"/>
                <a:ea typeface="Calibri (MS) Bold"/>
                <a:cs typeface="Calibri (MS) Bold"/>
                <a:sym typeface="Calibri (MS) Bold"/>
              </a:rPr>
              <a:t>Team Name</a:t>
            </a:r>
            <a:r>
              <a:rPr lang="en-US" sz="2285" dirty="0">
                <a:solidFill>
                  <a:srgbClr val="7AC143"/>
                </a:solidFill>
                <a:latin typeface="Calibri (MS)"/>
                <a:ea typeface="Calibri (MS)"/>
                <a:cs typeface="Calibri (MS)"/>
                <a:sym typeface="Calibri (MS)"/>
              </a:rPr>
              <a:t> </a:t>
            </a:r>
            <a:r>
              <a:rPr lang="en-US" sz="2285" dirty="0">
                <a:solidFill>
                  <a:srgbClr val="FFFFFF"/>
                </a:solidFill>
                <a:latin typeface="Calibri (MS)"/>
                <a:ea typeface="Calibri (MS)"/>
                <a:cs typeface="Calibri (MS)"/>
                <a:sym typeface="Calibri (MS)"/>
              </a:rPr>
              <a:t>– </a:t>
            </a:r>
            <a:r>
              <a:rPr lang="en-US" sz="2285" b="1" dirty="0">
                <a:solidFill>
                  <a:srgbClr val="FFFFFF"/>
                </a:solidFill>
                <a:latin typeface="Calibri (MS) Bold"/>
                <a:ea typeface="Calibri (MS) Bold"/>
                <a:cs typeface="Calibri (MS) Bold"/>
                <a:sym typeface="Calibri (MS) Bold"/>
              </a:rPr>
              <a:t>AURA</a:t>
            </a:r>
          </a:p>
          <a:p>
            <a:pPr marL="493534" lvl="1" indent="-246767" algn="l">
              <a:lnSpc>
                <a:spcPts val="2743"/>
              </a:lnSpc>
              <a:buFont typeface="Arial"/>
              <a:buChar char="•"/>
            </a:pPr>
            <a:r>
              <a:rPr lang="en-US" sz="2285" b="1" dirty="0">
                <a:solidFill>
                  <a:srgbClr val="7AC143"/>
                </a:solidFill>
                <a:latin typeface="Calibri (MS) Bold"/>
                <a:ea typeface="Calibri (MS) Bold"/>
                <a:cs typeface="Calibri (MS) Bold"/>
                <a:sym typeface="Calibri (MS) Bold"/>
              </a:rPr>
              <a:t>Team Members</a:t>
            </a:r>
            <a:r>
              <a:rPr lang="en-US" sz="2285" dirty="0">
                <a:solidFill>
                  <a:srgbClr val="FFFFFF"/>
                </a:solidFill>
                <a:latin typeface="Calibri (MS)"/>
                <a:ea typeface="Calibri (MS)"/>
                <a:cs typeface="Calibri (MS)"/>
                <a:sym typeface="Calibri (MS)"/>
              </a:rPr>
              <a:t> – </a:t>
            </a:r>
          </a:p>
          <a:p>
            <a:pPr marL="987069" lvl="2" indent="-329023" algn="l">
              <a:lnSpc>
                <a:spcPts val="2743"/>
              </a:lnSpc>
              <a:buFont typeface="Arial"/>
              <a:buChar char="⚬"/>
            </a:pPr>
            <a:r>
              <a:rPr lang="en-US" sz="2285" dirty="0">
                <a:solidFill>
                  <a:srgbClr val="FFFFFF"/>
                </a:solidFill>
                <a:latin typeface="Calibri (MS)"/>
                <a:ea typeface="Calibri (MS)"/>
                <a:cs typeface="Calibri (MS)"/>
                <a:sym typeface="Calibri (MS)"/>
              </a:rPr>
              <a:t>R. Rohith Sai [CB.SC.U4CSE26042] , </a:t>
            </a:r>
          </a:p>
          <a:p>
            <a:pPr marL="987069" lvl="2" indent="-329023" algn="l">
              <a:lnSpc>
                <a:spcPts val="2743"/>
              </a:lnSpc>
              <a:buFont typeface="Arial"/>
              <a:buChar char="⚬"/>
            </a:pPr>
            <a:r>
              <a:rPr lang="en-US" sz="2285" dirty="0">
                <a:solidFill>
                  <a:srgbClr val="FFFFFF"/>
                </a:solidFill>
                <a:latin typeface="Calibri (MS)"/>
                <a:ea typeface="Calibri (MS)"/>
                <a:cs typeface="Calibri (MS)"/>
                <a:sym typeface="Calibri (MS)"/>
              </a:rPr>
              <a:t>V. Harivansh Reddy [CB.SC.U4CSE26064], </a:t>
            </a:r>
          </a:p>
          <a:p>
            <a:pPr marL="987069" lvl="2" indent="-329023" algn="l">
              <a:lnSpc>
                <a:spcPts val="2743"/>
              </a:lnSpc>
              <a:buFont typeface="Arial"/>
              <a:buChar char="⚬"/>
            </a:pPr>
            <a:r>
              <a:rPr lang="en-US" sz="2285" dirty="0">
                <a:solidFill>
                  <a:srgbClr val="FFFFFF"/>
                </a:solidFill>
                <a:latin typeface="Calibri (MS)"/>
                <a:ea typeface="Calibri (MS)"/>
                <a:cs typeface="Calibri (MS)"/>
                <a:sym typeface="Calibri (MS)"/>
              </a:rPr>
              <a:t>B. Dinesh Kumar [CB.SC.U4CSE26016], </a:t>
            </a:r>
          </a:p>
          <a:p>
            <a:pPr marL="987069" lvl="2" indent="-329023" algn="l">
              <a:lnSpc>
                <a:spcPts val="2743"/>
              </a:lnSpc>
              <a:buFont typeface="Arial"/>
              <a:buChar char="⚬"/>
            </a:pPr>
            <a:r>
              <a:rPr lang="en-US" sz="2285" dirty="0">
                <a:solidFill>
                  <a:srgbClr val="FFFFFF"/>
                </a:solidFill>
                <a:latin typeface="Calibri (MS)"/>
                <a:ea typeface="Calibri (MS)"/>
                <a:cs typeface="Calibri (MS)"/>
                <a:sym typeface="Calibri (MS)"/>
              </a:rPr>
              <a:t>V. Rohith [CB.SC.U4CSE26062].</a:t>
            </a:r>
          </a:p>
          <a:p>
            <a:pPr marL="493534" lvl="1" indent="-246767" algn="l">
              <a:lnSpc>
                <a:spcPts val="2743"/>
              </a:lnSpc>
              <a:buFont typeface="Arial"/>
              <a:buChar char="•"/>
            </a:pPr>
            <a:r>
              <a:rPr lang="en-US" sz="2285" b="1" dirty="0">
                <a:solidFill>
                  <a:srgbClr val="7AC143"/>
                </a:solidFill>
                <a:latin typeface="Calibri (MS) Bold"/>
                <a:ea typeface="Calibri (MS) Bold"/>
                <a:cs typeface="Calibri (MS) Bold"/>
                <a:sym typeface="Calibri (MS) Bold"/>
              </a:rPr>
              <a:t>Selected Domain</a:t>
            </a:r>
            <a:r>
              <a:rPr lang="en-US" sz="2285" dirty="0">
                <a:solidFill>
                  <a:srgbClr val="FFFFFF"/>
                </a:solidFill>
                <a:latin typeface="Calibri (MS)"/>
                <a:ea typeface="Calibri (MS)"/>
                <a:cs typeface="Calibri (MS)"/>
                <a:sym typeface="Calibri (MS)"/>
              </a:rPr>
              <a:t> – #6</a:t>
            </a:r>
          </a:p>
          <a:p>
            <a:pPr marL="493534" lvl="1" indent="-246767" algn="l">
              <a:lnSpc>
                <a:spcPts val="2743"/>
              </a:lnSpc>
              <a:buFont typeface="Arial"/>
              <a:buChar char="•"/>
            </a:pPr>
            <a:r>
              <a:rPr lang="en-US" sz="2285" b="1" dirty="0">
                <a:solidFill>
                  <a:srgbClr val="7AC143"/>
                </a:solidFill>
                <a:latin typeface="Calibri (MS) Bold"/>
                <a:ea typeface="Calibri (MS) Bold"/>
                <a:cs typeface="Calibri (MS) Bold"/>
                <a:sym typeface="Calibri (MS) Bold"/>
              </a:rPr>
              <a:t>Problem Statement</a:t>
            </a:r>
            <a:r>
              <a:rPr lang="en-US" sz="2285" b="1" dirty="0">
                <a:solidFill>
                  <a:srgbClr val="FFFFFF"/>
                </a:solidFill>
                <a:latin typeface="Calibri (MS) Bold"/>
                <a:ea typeface="Calibri (MS) Bold"/>
                <a:cs typeface="Calibri (MS) Bold"/>
                <a:sym typeface="Calibri (MS) Bold"/>
              </a:rPr>
              <a:t> – </a:t>
            </a:r>
          </a:p>
          <a:p>
            <a:pPr algn="l">
              <a:lnSpc>
                <a:spcPts val="2743"/>
              </a:lnSpc>
            </a:pPr>
            <a:r>
              <a:rPr lang="en-US" sz="2285" b="1" dirty="0">
                <a:solidFill>
                  <a:srgbClr val="FFFFFF"/>
                </a:solidFill>
                <a:latin typeface="Calibri (MS) Bold"/>
                <a:ea typeface="Calibri (MS) Bold"/>
                <a:cs typeface="Calibri (MS) Bold"/>
                <a:sym typeface="Calibri (MS) Bold"/>
              </a:rPr>
              <a:t>               </a:t>
            </a:r>
            <a:r>
              <a:rPr lang="en-US" sz="2285" dirty="0">
                <a:solidFill>
                  <a:srgbClr val="FFFFFF"/>
                </a:solidFill>
                <a:latin typeface="Calibri (MS)"/>
                <a:ea typeface="Calibri (MS)"/>
                <a:cs typeface="Calibri (MS)"/>
                <a:sym typeface="Calibri (MS)"/>
              </a:rPr>
              <a:t>Healthcare today often follows a one-size-fits-all approach, despite </a:t>
            </a:r>
          </a:p>
          <a:p>
            <a:pPr algn="l">
              <a:lnSpc>
                <a:spcPts val="2743"/>
              </a:lnSpc>
            </a:pPr>
            <a:r>
              <a:rPr lang="en-US" sz="2285" dirty="0">
                <a:solidFill>
                  <a:srgbClr val="FFFFFF"/>
                </a:solidFill>
                <a:latin typeface="Calibri (MS)"/>
                <a:ea typeface="Calibri (MS)"/>
                <a:cs typeface="Calibri (MS)"/>
                <a:sym typeface="Calibri (MS)"/>
              </a:rPr>
              <a:t>        individuals having different genetic profiles. As a result, disease risks may </a:t>
            </a:r>
          </a:p>
          <a:p>
            <a:pPr algn="l">
              <a:lnSpc>
                <a:spcPts val="2743"/>
              </a:lnSpc>
            </a:pPr>
            <a:r>
              <a:rPr lang="en-US" sz="2285" dirty="0">
                <a:solidFill>
                  <a:srgbClr val="FFFFFF"/>
                </a:solidFill>
                <a:latin typeface="Calibri (MS)"/>
                <a:ea typeface="Calibri (MS)"/>
                <a:cs typeface="Calibri (MS)"/>
                <a:sym typeface="Calibri (MS)"/>
              </a:rPr>
              <a:t>        be identified too late, and the same treatment or medication can produce</a:t>
            </a:r>
          </a:p>
          <a:p>
            <a:pPr algn="l">
              <a:lnSpc>
                <a:spcPts val="2743"/>
              </a:lnSpc>
            </a:pPr>
            <a:r>
              <a:rPr lang="en-US" sz="2285" dirty="0">
                <a:solidFill>
                  <a:srgbClr val="FFFFFF"/>
                </a:solidFill>
                <a:latin typeface="Calibri (MS)"/>
                <a:ea typeface="Calibri (MS)"/>
                <a:cs typeface="Calibri (MS)"/>
                <a:sym typeface="Calibri (MS)"/>
              </a:rPr>
              <a:t>        different outcomes across patients. There is a need for an approach that </a:t>
            </a:r>
          </a:p>
          <a:p>
            <a:pPr algn="l">
              <a:lnSpc>
                <a:spcPts val="2743"/>
              </a:lnSpc>
            </a:pPr>
            <a:r>
              <a:rPr lang="en-US" sz="2285" dirty="0">
                <a:solidFill>
                  <a:srgbClr val="FFFFFF"/>
                </a:solidFill>
                <a:latin typeface="Calibri (MS)"/>
                <a:ea typeface="Calibri (MS)"/>
                <a:cs typeface="Calibri (MS)"/>
                <a:sym typeface="Calibri (MS)"/>
              </a:rPr>
              <a:t>        can leverage an individual's genetic information to enable earlier risk</a:t>
            </a:r>
          </a:p>
          <a:p>
            <a:pPr algn="l">
              <a:lnSpc>
                <a:spcPts val="2743"/>
              </a:lnSpc>
            </a:pPr>
            <a:r>
              <a:rPr lang="en-US" sz="2285" dirty="0">
                <a:solidFill>
                  <a:srgbClr val="FFFFFF"/>
                </a:solidFill>
                <a:latin typeface="Calibri (MS)"/>
                <a:ea typeface="Calibri (MS)"/>
                <a:cs typeface="Calibri (MS)"/>
                <a:sym typeface="Calibri (MS)"/>
              </a:rPr>
              <a:t>        prediction and more personalized healthcare.</a:t>
            </a:r>
          </a:p>
          <a:p>
            <a:pPr algn="l">
              <a:lnSpc>
                <a:spcPts val="2743"/>
              </a:lnSpc>
            </a:pPr>
            <a:endParaRPr lang="en-US" sz="2285" dirty="0">
              <a:solidFill>
                <a:srgbClr val="FFFFFF"/>
              </a:solidFill>
              <a:latin typeface="Calibri (MS)"/>
              <a:ea typeface="Calibri (MS)"/>
              <a:cs typeface="Calibri (MS)"/>
              <a:sym typeface="Calibri (MS)"/>
            </a:endParaRPr>
          </a:p>
          <a:p>
            <a:pPr algn="l">
              <a:lnSpc>
                <a:spcPts val="2743"/>
              </a:lnSpc>
            </a:pPr>
            <a:endParaRPr lang="en-US" sz="2285" dirty="0">
              <a:solidFill>
                <a:srgbClr val="FFFFFF"/>
              </a:solidFill>
              <a:latin typeface="Calibri (MS)"/>
              <a:ea typeface="Calibri (MS)"/>
              <a:cs typeface="Calibri (MS)"/>
              <a:sym typeface="Calibri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8F5"/>
        </a:solidFill>
        <a:effectLst/>
      </p:bgPr>
    </p:bg>
    <p:spTree>
      <p:nvGrpSpPr>
        <p:cNvPr id="1" name=""/>
        <p:cNvGrpSpPr/>
        <p:nvPr/>
      </p:nvGrpSpPr>
      <p:grpSpPr>
        <a:xfrm>
          <a:off x="0" y="0"/>
          <a:ext cx="0" cy="0"/>
          <a:chOff x="0" y="0"/>
          <a:chExt cx="0" cy="0"/>
        </a:xfrm>
      </p:grpSpPr>
      <p:grpSp>
        <p:nvGrpSpPr>
          <p:cNvPr id="2" name="Group 2"/>
          <p:cNvGrpSpPr/>
          <p:nvPr/>
        </p:nvGrpSpPr>
        <p:grpSpPr>
          <a:xfrm>
            <a:off x="16360159" y="472916"/>
            <a:ext cx="1248727" cy="1248727"/>
            <a:chOff x="0" y="0"/>
            <a:chExt cx="1664970" cy="1664970"/>
          </a:xfrm>
        </p:grpSpPr>
        <p:sp>
          <p:nvSpPr>
            <p:cNvPr id="3" name="Freeform 3"/>
            <p:cNvSpPr/>
            <p:nvPr/>
          </p:nvSpPr>
          <p:spPr>
            <a:xfrm>
              <a:off x="0" y="0"/>
              <a:ext cx="1664970" cy="1664970"/>
            </a:xfrm>
            <a:custGeom>
              <a:avLst/>
              <a:gdLst/>
              <a:ahLst/>
              <a:cxnLst/>
              <a:rect l="l" t="t" r="r" b="b"/>
              <a:pathLst>
                <a:path w="1664970" h="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4" name="Group 4"/>
          <p:cNvGrpSpPr/>
          <p:nvPr/>
        </p:nvGrpSpPr>
        <p:grpSpPr>
          <a:xfrm>
            <a:off x="16583920" y="576072"/>
            <a:ext cx="801195" cy="1042416"/>
            <a:chOff x="0" y="0"/>
            <a:chExt cx="1068260" cy="1389888"/>
          </a:xfrm>
        </p:grpSpPr>
        <p:sp>
          <p:nvSpPr>
            <p:cNvPr id="5" name="Freeform 5" descr="Genesis logo"/>
            <p:cNvSpPr/>
            <p:nvPr/>
          </p:nvSpPr>
          <p:spPr>
            <a:xfrm>
              <a:off x="0" y="0"/>
              <a:ext cx="1068324" cy="1389888"/>
            </a:xfrm>
            <a:custGeom>
              <a:avLst/>
              <a:gdLst/>
              <a:ahLst/>
              <a:cxnLst/>
              <a:rect l="l" t="t" r="r" b="b"/>
              <a:pathLst>
                <a:path w="1068324" h="1389888">
                  <a:moveTo>
                    <a:pt x="0" y="0"/>
                  </a:moveTo>
                  <a:lnTo>
                    <a:pt x="1068324" y="0"/>
                  </a:lnTo>
                  <a:lnTo>
                    <a:pt x="1068324" y="1389888"/>
                  </a:lnTo>
                  <a:lnTo>
                    <a:pt x="0" y="1389888"/>
                  </a:lnTo>
                  <a:lnTo>
                    <a:pt x="0" y="0"/>
                  </a:lnTo>
                  <a:close/>
                </a:path>
              </a:pathLst>
            </a:custGeom>
            <a:blipFill>
              <a:blip r:embed="rId3"/>
              <a:stretch>
                <a:fillRect r="5"/>
              </a:stretch>
            </a:blipFill>
          </p:spPr>
        </p:sp>
      </p:grpSp>
      <p:grpSp>
        <p:nvGrpSpPr>
          <p:cNvPr id="6" name="Group 6"/>
          <p:cNvGrpSpPr/>
          <p:nvPr/>
        </p:nvGrpSpPr>
        <p:grpSpPr>
          <a:xfrm>
            <a:off x="0" y="9532620"/>
            <a:ext cx="18287543" cy="754380"/>
            <a:chOff x="0" y="0"/>
            <a:chExt cx="24383390" cy="1005840"/>
          </a:xfrm>
        </p:grpSpPr>
        <p:sp>
          <p:nvSpPr>
            <p:cNvPr id="7" name="Freeform 7"/>
            <p:cNvSpPr/>
            <p:nvPr/>
          </p:nvSpPr>
          <p:spPr>
            <a:xfrm>
              <a:off x="0" y="0"/>
              <a:ext cx="24383364" cy="1005840"/>
            </a:xfrm>
            <a:custGeom>
              <a:avLst/>
              <a:gdLst/>
              <a:ahLst/>
              <a:cxnLst/>
              <a:rect l="l" t="t" r="r" b="b"/>
              <a:pathLst>
                <a:path w="24383364" h="1005840">
                  <a:moveTo>
                    <a:pt x="0" y="0"/>
                  </a:moveTo>
                  <a:lnTo>
                    <a:pt x="24383364" y="0"/>
                  </a:lnTo>
                  <a:lnTo>
                    <a:pt x="24383364" y="1005840"/>
                  </a:lnTo>
                  <a:lnTo>
                    <a:pt x="0" y="1005840"/>
                  </a:lnTo>
                  <a:close/>
                </a:path>
              </a:pathLst>
            </a:custGeom>
            <a:solidFill>
              <a:srgbClr val="052B35"/>
            </a:solidFill>
          </p:spPr>
        </p:sp>
      </p:grpSp>
      <p:grpSp>
        <p:nvGrpSpPr>
          <p:cNvPr id="8" name="Group 8"/>
          <p:cNvGrpSpPr/>
          <p:nvPr/>
        </p:nvGrpSpPr>
        <p:grpSpPr>
          <a:xfrm>
            <a:off x="3429000" y="9532620"/>
            <a:ext cx="11429543" cy="754380"/>
            <a:chOff x="0" y="0"/>
            <a:chExt cx="15239390" cy="1005840"/>
          </a:xfrm>
        </p:grpSpPr>
        <p:sp>
          <p:nvSpPr>
            <p:cNvPr id="9" name="Freeform 9"/>
            <p:cNvSpPr/>
            <p:nvPr/>
          </p:nvSpPr>
          <p:spPr>
            <a:xfrm>
              <a:off x="0" y="0"/>
              <a:ext cx="15239391" cy="1005840"/>
            </a:xfrm>
            <a:custGeom>
              <a:avLst/>
              <a:gdLst/>
              <a:ahLst/>
              <a:cxnLst/>
              <a:rect l="l" t="t" r="r" b="b"/>
              <a:pathLst>
                <a:path w="15239391" h="1005840">
                  <a:moveTo>
                    <a:pt x="0" y="0"/>
                  </a:moveTo>
                  <a:lnTo>
                    <a:pt x="15239391" y="0"/>
                  </a:lnTo>
                  <a:lnTo>
                    <a:pt x="15239391" y="1005840"/>
                  </a:lnTo>
                  <a:lnTo>
                    <a:pt x="0" y="1005840"/>
                  </a:lnTo>
                  <a:close/>
                </a:path>
              </a:pathLst>
            </a:custGeom>
            <a:blipFill>
              <a:blip r:embed="rId4">
                <a:alphaModFix amt="0"/>
              </a:blip>
              <a:stretch>
                <a:fillRect t="-245216" b="-245216"/>
              </a:stretch>
            </a:blipFill>
          </p:spPr>
        </p:sp>
        <p:sp>
          <p:nvSpPr>
            <p:cNvPr id="10" name="TextBox 10"/>
            <p:cNvSpPr txBox="1"/>
            <p:nvPr/>
          </p:nvSpPr>
          <p:spPr>
            <a:xfrm>
              <a:off x="0" y="-19050"/>
              <a:ext cx="15239390" cy="1024890"/>
            </a:xfrm>
            <a:prstGeom prst="rect">
              <a:avLst/>
            </a:prstGeom>
          </p:spPr>
          <p:txBody>
            <a:bodyPr lIns="0" tIns="0" rIns="0" bIns="0" rtlCol="0" anchor="ctr"/>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id="11" name="Group 11"/>
          <p:cNvGrpSpPr/>
          <p:nvPr/>
        </p:nvGrpSpPr>
        <p:grpSpPr>
          <a:xfrm>
            <a:off x="16888511" y="9614916"/>
            <a:ext cx="685800" cy="593903"/>
            <a:chOff x="0" y="0"/>
            <a:chExt cx="914400" cy="791870"/>
          </a:xfrm>
        </p:grpSpPr>
        <p:sp>
          <p:nvSpPr>
            <p:cNvPr id="12" name="Freeform 1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13" name="Group 13"/>
          <p:cNvGrpSpPr/>
          <p:nvPr/>
        </p:nvGrpSpPr>
        <p:grpSpPr>
          <a:xfrm rot="5400000">
            <a:off x="15903559" y="7017544"/>
            <a:ext cx="2161927" cy="1875473"/>
            <a:chOff x="0" y="0"/>
            <a:chExt cx="2882570" cy="2500630"/>
          </a:xfrm>
        </p:grpSpPr>
        <p:sp>
          <p:nvSpPr>
            <p:cNvPr id="14" name="Freeform 14"/>
            <p:cNvSpPr/>
            <p:nvPr/>
          </p:nvSpPr>
          <p:spPr>
            <a:xfrm>
              <a:off x="0" y="0"/>
              <a:ext cx="2882519" cy="2500630"/>
            </a:xfrm>
            <a:custGeom>
              <a:avLst/>
              <a:gdLst/>
              <a:ahLst/>
              <a:cxnLst/>
              <a:rect l="l" t="t" r="r" b="b"/>
              <a:pathLst>
                <a:path w="2882519" h="2500630">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r="-61306"/>
              </a:stretch>
            </a:blipFill>
            <a:ln w="23812" cap="sq">
              <a:solidFill>
                <a:srgbClr val="4FA278"/>
              </a:solidFill>
              <a:prstDash val="solid"/>
              <a:miter/>
            </a:ln>
          </p:spPr>
        </p:sp>
      </p:grpSp>
      <p:grpSp>
        <p:nvGrpSpPr>
          <p:cNvPr id="15" name="Group 15"/>
          <p:cNvGrpSpPr/>
          <p:nvPr/>
        </p:nvGrpSpPr>
        <p:grpSpPr>
          <a:xfrm rot="5400000">
            <a:off x="14613988" y="8011954"/>
            <a:ext cx="1449219" cy="1258252"/>
            <a:chOff x="0" y="0"/>
            <a:chExt cx="1932292" cy="1677670"/>
          </a:xfrm>
        </p:grpSpPr>
        <p:sp>
          <p:nvSpPr>
            <p:cNvPr id="16" name="Freeform 16"/>
            <p:cNvSpPr/>
            <p:nvPr/>
          </p:nvSpPr>
          <p:spPr>
            <a:xfrm>
              <a:off x="0" y="0"/>
              <a:ext cx="1932178" cy="1677670"/>
            </a:xfrm>
            <a:custGeom>
              <a:avLst/>
              <a:gdLst/>
              <a:ahLst/>
              <a:cxnLst/>
              <a:rect l="l" t="t" r="r" b="b"/>
              <a:pathLst>
                <a:path w="1932178" h="1677670">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r="-61406"/>
              </a:stretch>
            </a:blipFill>
            <a:ln w="23812" cap="sq">
              <a:solidFill>
                <a:srgbClr val="4FA278"/>
              </a:solidFill>
              <a:prstDash val="solid"/>
              <a:miter/>
            </a:ln>
          </p:spPr>
        </p:sp>
      </p:grpSp>
      <p:grpSp>
        <p:nvGrpSpPr>
          <p:cNvPr id="17" name="Group 17"/>
          <p:cNvGrpSpPr/>
          <p:nvPr/>
        </p:nvGrpSpPr>
        <p:grpSpPr>
          <a:xfrm rot="5400000">
            <a:off x="17357188" y="5748814"/>
            <a:ext cx="1449219" cy="1258252"/>
            <a:chOff x="0" y="0"/>
            <a:chExt cx="1932292" cy="1677670"/>
          </a:xfrm>
        </p:grpSpPr>
        <p:sp>
          <p:nvSpPr>
            <p:cNvPr id="18" name="Freeform 18"/>
            <p:cNvSpPr/>
            <p:nvPr/>
          </p:nvSpPr>
          <p:spPr>
            <a:xfrm>
              <a:off x="0" y="0"/>
              <a:ext cx="1932178" cy="1677670"/>
            </a:xfrm>
            <a:custGeom>
              <a:avLst/>
              <a:gdLst/>
              <a:ahLst/>
              <a:cxnLst/>
              <a:rect l="l" t="t" r="r" b="b"/>
              <a:pathLst>
                <a:path w="1932178" h="1677670">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r="-61406"/>
              </a:stretch>
            </a:blipFill>
            <a:ln w="23812" cap="sq">
              <a:solidFill>
                <a:srgbClr val="4FA278"/>
              </a:solidFill>
              <a:prstDash val="solid"/>
              <a:miter/>
            </a:ln>
          </p:spPr>
        </p:sp>
      </p:grpSp>
      <p:grpSp>
        <p:nvGrpSpPr>
          <p:cNvPr id="19" name="Group 19"/>
          <p:cNvGrpSpPr/>
          <p:nvPr/>
        </p:nvGrpSpPr>
        <p:grpSpPr>
          <a:xfrm>
            <a:off x="4869180" y="-221300"/>
            <a:ext cx="10204573" cy="2637160"/>
            <a:chOff x="0" y="0"/>
            <a:chExt cx="13606097" cy="3516213"/>
          </a:xfrm>
        </p:grpSpPr>
        <p:sp>
          <p:nvSpPr>
            <p:cNvPr id="20" name="Freeform 20"/>
            <p:cNvSpPr/>
            <p:nvPr/>
          </p:nvSpPr>
          <p:spPr>
            <a:xfrm>
              <a:off x="0" y="0"/>
              <a:ext cx="13606098" cy="3516213"/>
            </a:xfrm>
            <a:custGeom>
              <a:avLst/>
              <a:gdLst/>
              <a:ahLst/>
              <a:cxnLst/>
              <a:rect l="l" t="t" r="r" b="b"/>
              <a:pathLst>
                <a:path w="13606098" h="3516213">
                  <a:moveTo>
                    <a:pt x="0" y="0"/>
                  </a:moveTo>
                  <a:lnTo>
                    <a:pt x="13606098" y="0"/>
                  </a:lnTo>
                  <a:lnTo>
                    <a:pt x="13606098" y="3516213"/>
                  </a:lnTo>
                  <a:lnTo>
                    <a:pt x="0" y="3516213"/>
                  </a:lnTo>
                  <a:close/>
                </a:path>
              </a:pathLst>
            </a:custGeom>
            <a:blipFill>
              <a:blip r:embed="rId4">
                <a:alphaModFix amt="0"/>
              </a:blip>
              <a:stretch>
                <a:fillRect t="-59696" r="-10216" b="-6505"/>
              </a:stretch>
            </a:blipFill>
          </p:spPr>
        </p:sp>
        <p:sp>
          <p:nvSpPr>
            <p:cNvPr id="21" name="TextBox 21"/>
            <p:cNvSpPr txBox="1"/>
            <p:nvPr/>
          </p:nvSpPr>
          <p:spPr>
            <a:xfrm>
              <a:off x="0" y="-19050"/>
              <a:ext cx="13606097" cy="3535263"/>
            </a:xfrm>
            <a:prstGeom prst="rect">
              <a:avLst/>
            </a:prstGeom>
          </p:spPr>
          <p:txBody>
            <a:bodyPr lIns="0" tIns="0" rIns="0" bIns="0" rtlCol="0" anchor="ctr"/>
            <a:lstStyle/>
            <a:p>
              <a:pPr algn="ctr">
                <a:lnSpc>
                  <a:spcPts val="4320"/>
                </a:lnSpc>
              </a:pPr>
              <a:r>
                <a:rPr lang="en-US" sz="3600" b="1" spc="150">
                  <a:solidFill>
                    <a:srgbClr val="052B35"/>
                  </a:solidFill>
                  <a:latin typeface="Cambria Bold"/>
                  <a:ea typeface="Cambria Bold"/>
                  <a:cs typeface="Cambria Bold"/>
                  <a:sym typeface="Cambria Bold"/>
                </a:rPr>
                <a:t>DOMAIN PROBLEM IN OUR WORDS</a:t>
              </a:r>
            </a:p>
          </p:txBody>
        </p:sp>
      </p:grpSp>
      <p:grpSp>
        <p:nvGrpSpPr>
          <p:cNvPr id="22" name="Group 22"/>
          <p:cNvGrpSpPr/>
          <p:nvPr/>
        </p:nvGrpSpPr>
        <p:grpSpPr>
          <a:xfrm>
            <a:off x="678656" y="472916"/>
            <a:ext cx="3923347" cy="1248727"/>
            <a:chOff x="0" y="0"/>
            <a:chExt cx="5231130" cy="1664970"/>
          </a:xfrm>
        </p:grpSpPr>
        <p:sp>
          <p:nvSpPr>
            <p:cNvPr id="23" name="Freeform 23"/>
            <p:cNvSpPr/>
            <p:nvPr/>
          </p:nvSpPr>
          <p:spPr>
            <a:xfrm>
              <a:off x="0" y="0"/>
              <a:ext cx="5231130" cy="1664970"/>
            </a:xfrm>
            <a:custGeom>
              <a:avLst/>
              <a:gdLst/>
              <a:ahLst/>
              <a:cxnLst/>
              <a:rect l="l" t="t" r="r" b="b"/>
              <a:pathLst>
                <a:path w="5231130" h="166497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24" name="Group 24"/>
          <p:cNvGrpSpPr/>
          <p:nvPr/>
        </p:nvGrpSpPr>
        <p:grpSpPr>
          <a:xfrm>
            <a:off x="898112" y="678656"/>
            <a:ext cx="960692" cy="837248"/>
            <a:chOff x="0" y="0"/>
            <a:chExt cx="1280922" cy="1116330"/>
          </a:xfrm>
        </p:grpSpPr>
        <p:sp>
          <p:nvSpPr>
            <p:cNvPr id="25" name="Freeform 25"/>
            <p:cNvSpPr/>
            <p:nvPr/>
          </p:nvSpPr>
          <p:spPr>
            <a:xfrm>
              <a:off x="0" y="0"/>
              <a:ext cx="1280922" cy="1116330"/>
            </a:xfrm>
            <a:custGeom>
              <a:avLst/>
              <a:gdLst/>
              <a:ahLst/>
              <a:cxnLst/>
              <a:rect l="l" t="t" r="r" b="b"/>
              <a:pathLst>
                <a:path w="1280922" h="1116330">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id="26" name="Group 26"/>
          <p:cNvGrpSpPr/>
          <p:nvPr/>
        </p:nvGrpSpPr>
        <p:grpSpPr>
          <a:xfrm>
            <a:off x="1104138" y="822960"/>
            <a:ext cx="548640" cy="548640"/>
            <a:chOff x="0" y="0"/>
            <a:chExt cx="731520" cy="731520"/>
          </a:xfrm>
        </p:grpSpPr>
        <p:sp>
          <p:nvSpPr>
            <p:cNvPr id="27" name="Freeform 27" descr="Team icon"/>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5"/>
              <a:stretch>
                <a:fillRect/>
              </a:stretch>
            </a:blipFill>
          </p:spPr>
        </p:sp>
      </p:grpSp>
      <p:grpSp>
        <p:nvGrpSpPr>
          <p:cNvPr id="28" name="Group 28"/>
          <p:cNvGrpSpPr/>
          <p:nvPr/>
        </p:nvGrpSpPr>
        <p:grpSpPr>
          <a:xfrm>
            <a:off x="2057400" y="576072"/>
            <a:ext cx="2441448" cy="1042416"/>
            <a:chOff x="0" y="0"/>
            <a:chExt cx="3255264" cy="1389888"/>
          </a:xfrm>
        </p:grpSpPr>
        <p:sp>
          <p:nvSpPr>
            <p:cNvPr id="29" name="Freeform 29"/>
            <p:cNvSpPr/>
            <p:nvPr/>
          </p:nvSpPr>
          <p:spPr>
            <a:xfrm>
              <a:off x="0" y="0"/>
              <a:ext cx="3255264" cy="1389888"/>
            </a:xfrm>
            <a:custGeom>
              <a:avLst/>
              <a:gdLst/>
              <a:ahLst/>
              <a:cxnLst/>
              <a:rect l="l" t="t" r="r" b="b"/>
              <a:pathLst>
                <a:path w="3255264" h="1389888">
                  <a:moveTo>
                    <a:pt x="0" y="0"/>
                  </a:moveTo>
                  <a:lnTo>
                    <a:pt x="3255264" y="0"/>
                  </a:lnTo>
                  <a:lnTo>
                    <a:pt x="3255264" y="1389888"/>
                  </a:lnTo>
                  <a:lnTo>
                    <a:pt x="0" y="1389888"/>
                  </a:lnTo>
                  <a:close/>
                </a:path>
              </a:pathLst>
            </a:custGeom>
            <a:blipFill>
              <a:blip r:embed="rId4">
                <a:alphaModFix amt="0"/>
              </a:blip>
              <a:stretch>
                <a:fillRect l="-4781" r="-4781"/>
              </a:stretch>
            </a:blipFill>
          </p:spPr>
        </p:sp>
        <p:sp>
          <p:nvSpPr>
            <p:cNvPr id="30" name="TextBox 30"/>
            <p:cNvSpPr txBox="1"/>
            <p:nvPr/>
          </p:nvSpPr>
          <p:spPr>
            <a:xfrm>
              <a:off x="0" y="-28575"/>
              <a:ext cx="3255264" cy="1418463"/>
            </a:xfrm>
            <a:prstGeom prst="rect">
              <a:avLst/>
            </a:prstGeom>
          </p:spPr>
          <p:txBody>
            <a:bodyPr lIns="0" tIns="0" rIns="0" bIns="0" rtlCol="0" anchor="ctr"/>
            <a:lstStyle/>
            <a:p>
              <a:pPr algn="l">
                <a:lnSpc>
                  <a:spcPts val="1620"/>
                </a:lnSpc>
              </a:pPr>
              <a:r>
                <a:rPr lang="en-US" sz="1350" b="1" spc="449">
                  <a:solidFill>
                    <a:srgbClr val="5B6F6B"/>
                  </a:solidFill>
                  <a:latin typeface="Calibri (MS) Bold"/>
                  <a:ea typeface="Calibri (MS) Bold"/>
                  <a:cs typeface="Calibri (MS) Bold"/>
                  <a:sym typeface="Calibri (MS) Bold"/>
                </a:rPr>
                <a:t>TEAM</a:t>
              </a:r>
            </a:p>
            <a:p>
              <a:pPr algn="l">
                <a:lnSpc>
                  <a:spcPts val="2700"/>
                </a:lnSpc>
              </a:pPr>
              <a:r>
                <a:rPr lang="en-US" sz="2250" b="1" spc="749">
                  <a:solidFill>
                    <a:srgbClr val="026855"/>
                  </a:solidFill>
                  <a:latin typeface="Calibri (MS) Bold"/>
                  <a:ea typeface="Calibri (MS) Bold"/>
                  <a:cs typeface="Calibri (MS) Bold"/>
                  <a:sym typeface="Calibri (MS) Bold"/>
                </a:rPr>
                <a:t>AURA</a:t>
              </a:r>
            </a:p>
          </p:txBody>
        </p:sp>
      </p:grpSp>
      <p:grpSp>
        <p:nvGrpSpPr>
          <p:cNvPr id="31" name="Group 31"/>
          <p:cNvGrpSpPr/>
          <p:nvPr/>
        </p:nvGrpSpPr>
        <p:grpSpPr>
          <a:xfrm>
            <a:off x="822960" y="2194560"/>
            <a:ext cx="685800" cy="593903"/>
            <a:chOff x="0" y="0"/>
            <a:chExt cx="914400" cy="791870"/>
          </a:xfrm>
        </p:grpSpPr>
        <p:sp>
          <p:nvSpPr>
            <p:cNvPr id="32" name="Freeform 3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33" name="Group 33"/>
          <p:cNvGrpSpPr/>
          <p:nvPr/>
        </p:nvGrpSpPr>
        <p:grpSpPr>
          <a:xfrm>
            <a:off x="960120" y="2285086"/>
            <a:ext cx="411480" cy="411480"/>
            <a:chOff x="0" y="0"/>
            <a:chExt cx="548640" cy="548640"/>
          </a:xfrm>
        </p:grpSpPr>
        <p:sp>
          <p:nvSpPr>
            <p:cNvPr id="34" name="Freeform 34" descr="Lightbulb icon"/>
            <p:cNvSpPr/>
            <p:nvPr/>
          </p:nvSpPr>
          <p:spPr>
            <a:xfrm>
              <a:off x="0" y="0"/>
              <a:ext cx="548640" cy="548640"/>
            </a:xfrm>
            <a:custGeom>
              <a:avLst/>
              <a:gdLst/>
              <a:ahLst/>
              <a:cxnLst/>
              <a:rect l="l" t="t" r="r" b="b"/>
              <a:pathLst>
                <a:path w="548640" h="548640">
                  <a:moveTo>
                    <a:pt x="0" y="0"/>
                  </a:moveTo>
                  <a:lnTo>
                    <a:pt x="548640" y="0"/>
                  </a:lnTo>
                  <a:lnTo>
                    <a:pt x="548640" y="548640"/>
                  </a:lnTo>
                  <a:lnTo>
                    <a:pt x="0" y="548640"/>
                  </a:lnTo>
                  <a:lnTo>
                    <a:pt x="0" y="0"/>
                  </a:lnTo>
                  <a:close/>
                </a:path>
              </a:pathLst>
            </a:custGeom>
            <a:blipFill>
              <a:blip r:embed="rId6"/>
              <a:stretch>
                <a:fillRect/>
              </a:stretch>
            </a:blipFill>
          </p:spPr>
        </p:sp>
      </p:grpSp>
      <p:grpSp>
        <p:nvGrpSpPr>
          <p:cNvPr id="35" name="Group 35"/>
          <p:cNvGrpSpPr/>
          <p:nvPr/>
        </p:nvGrpSpPr>
        <p:grpSpPr>
          <a:xfrm>
            <a:off x="1755648" y="2125980"/>
            <a:ext cx="14401800" cy="754380"/>
            <a:chOff x="0" y="0"/>
            <a:chExt cx="19202400" cy="1005840"/>
          </a:xfrm>
        </p:grpSpPr>
        <p:sp>
          <p:nvSpPr>
            <p:cNvPr id="36" name="Freeform 36"/>
            <p:cNvSpPr/>
            <p:nvPr/>
          </p:nvSpPr>
          <p:spPr>
            <a:xfrm>
              <a:off x="0" y="0"/>
              <a:ext cx="19202400" cy="1005840"/>
            </a:xfrm>
            <a:custGeom>
              <a:avLst/>
              <a:gdLst/>
              <a:ahLst/>
              <a:cxnLst/>
              <a:rect l="l" t="t" r="r" b="b"/>
              <a:pathLst>
                <a:path w="19202400" h="1005840">
                  <a:moveTo>
                    <a:pt x="0" y="0"/>
                  </a:moveTo>
                  <a:lnTo>
                    <a:pt x="19202400" y="0"/>
                  </a:lnTo>
                  <a:lnTo>
                    <a:pt x="19202400" y="1005840"/>
                  </a:lnTo>
                  <a:lnTo>
                    <a:pt x="0" y="1005840"/>
                  </a:lnTo>
                  <a:close/>
                </a:path>
              </a:pathLst>
            </a:custGeom>
            <a:blipFill>
              <a:blip r:embed="rId4">
                <a:alphaModFix amt="0"/>
              </a:blip>
              <a:stretch>
                <a:fillRect t="-321987" b="-321987"/>
              </a:stretch>
            </a:blipFill>
          </p:spPr>
        </p:sp>
        <p:sp>
          <p:nvSpPr>
            <p:cNvPr id="37" name="TextBox 37"/>
            <p:cNvSpPr txBox="1"/>
            <p:nvPr/>
          </p:nvSpPr>
          <p:spPr>
            <a:xfrm>
              <a:off x="0" y="-57150"/>
              <a:ext cx="19202400" cy="1062990"/>
            </a:xfrm>
            <a:prstGeom prst="rect">
              <a:avLst/>
            </a:prstGeom>
          </p:spPr>
          <p:txBody>
            <a:bodyPr lIns="0" tIns="0" rIns="0" bIns="0" rtlCol="0" anchor="ctr"/>
            <a:lstStyle/>
            <a:p>
              <a:pPr algn="l">
                <a:lnSpc>
                  <a:spcPts val="3240"/>
                </a:lnSpc>
              </a:pPr>
              <a:r>
                <a:rPr lang="en-US" sz="2700" b="1">
                  <a:solidFill>
                    <a:srgbClr val="094542"/>
                  </a:solidFill>
                  <a:latin typeface="Calibri (MS) Bold"/>
                  <a:ea typeface="Calibri (MS) Bold"/>
                  <a:cs typeface="Calibri (MS) Bold"/>
                  <a:sym typeface="Calibri (MS) Bold"/>
                </a:rPr>
                <a:t>Explain the problem in your domain simply, in your own words</a:t>
              </a:r>
            </a:p>
          </p:txBody>
        </p:sp>
      </p:grpSp>
      <p:sp>
        <p:nvSpPr>
          <p:cNvPr id="38" name="TextBox 38"/>
          <p:cNvSpPr txBox="1"/>
          <p:nvPr/>
        </p:nvSpPr>
        <p:spPr>
          <a:xfrm>
            <a:off x="1252271" y="2983230"/>
            <a:ext cx="15636240" cy="4972050"/>
          </a:xfrm>
          <a:prstGeom prst="rect">
            <a:avLst/>
          </a:prstGeom>
        </p:spPr>
        <p:txBody>
          <a:bodyPr lIns="0" tIns="0" rIns="0" bIns="0" rtlCol="0" anchor="t">
            <a:spAutoFit/>
          </a:bodyPr>
          <a:lstStyle/>
          <a:p>
            <a:pPr algn="l">
              <a:lnSpc>
                <a:spcPts val="3240"/>
              </a:lnSpc>
            </a:pPr>
            <a:r>
              <a:rPr lang="en-US" sz="2700" b="1">
                <a:solidFill>
                  <a:srgbClr val="0E2A2F"/>
                </a:solidFill>
                <a:latin typeface="Calibri (MS) Bold"/>
                <a:ea typeface="Calibri (MS) Bold"/>
                <a:cs typeface="Calibri (MS) Bold"/>
                <a:sym typeface="Calibri (MS) Bold"/>
              </a:rPr>
              <a:t>What exactly needs to be solved?</a:t>
            </a:r>
          </a:p>
          <a:p>
            <a:pPr marL="582930" lvl="1" indent="-291465" algn="just">
              <a:lnSpc>
                <a:spcPts val="3240"/>
              </a:lnSpc>
              <a:buFont typeface="Arial"/>
              <a:buChar char="•"/>
            </a:pPr>
            <a:r>
              <a:rPr lang="en-US" sz="2700">
                <a:solidFill>
                  <a:srgbClr val="0E2A2F"/>
                </a:solidFill>
                <a:latin typeface="Calibri (MS)"/>
                <a:ea typeface="Calibri (MS)"/>
                <a:cs typeface="Calibri (MS)"/>
                <a:sym typeface="Calibri (MS)"/>
              </a:rPr>
              <a:t>Treatment today is one-size-fits-all, so diseases are caught late and the same drug works well for one person and badly for another. Genetic data could fix this, but interpreting a person's DNA manually is slow, expensive, and needs rare specialists. We need an AI system that can read an individual's DNA, flag disease-linked variants, predict risk early, and suggest personalized treatment.</a:t>
            </a:r>
          </a:p>
          <a:p>
            <a:pPr algn="l">
              <a:lnSpc>
                <a:spcPts val="3240"/>
              </a:lnSpc>
            </a:pPr>
            <a:endParaRPr lang="en-US" sz="2700">
              <a:solidFill>
                <a:srgbClr val="0E2A2F"/>
              </a:solidFill>
              <a:latin typeface="Calibri (MS)"/>
              <a:ea typeface="Calibri (MS)"/>
              <a:cs typeface="Calibri (MS)"/>
              <a:sym typeface="Calibri (MS)"/>
            </a:endParaRPr>
          </a:p>
          <a:p>
            <a:pPr algn="l">
              <a:lnSpc>
                <a:spcPts val="3240"/>
              </a:lnSpc>
            </a:pPr>
            <a:r>
              <a:rPr lang="en-US" sz="2700" b="1">
                <a:solidFill>
                  <a:srgbClr val="0E2A2F"/>
                </a:solidFill>
                <a:latin typeface="Calibri (MS) Bold"/>
                <a:ea typeface="Calibri (MS) Bold"/>
                <a:cs typeface="Calibri (MS) Bold"/>
                <a:sym typeface="Calibri (MS) Bold"/>
              </a:rPr>
              <a:t>Why is it important right now?</a:t>
            </a:r>
          </a:p>
          <a:p>
            <a:pPr marL="582930" lvl="1" indent="-291465" algn="l">
              <a:lnSpc>
                <a:spcPts val="3240"/>
              </a:lnSpc>
              <a:buFont typeface="Arial"/>
              <a:buChar char="•"/>
            </a:pPr>
            <a:r>
              <a:rPr lang="en-US" sz="2700">
                <a:solidFill>
                  <a:srgbClr val="0E2A2F"/>
                </a:solidFill>
                <a:latin typeface="Calibri (MS)"/>
                <a:ea typeface="Calibri (MS)"/>
                <a:cs typeface="Calibri (MS)"/>
                <a:sym typeface="Calibri (MS)"/>
              </a:rPr>
              <a:t>Genome sequencing has become far cheaper and faster, so the data is finally available, but our ability to interpret it hasn't kept up. Modern AI models can now handle sequence data at scale, which wasn't practical a few years ago. Also, most genomic tools are built on non-Indian populations, so there's a real gap for accurate, affordable precision medicine in India.</a:t>
            </a:r>
          </a:p>
          <a:p>
            <a:pPr algn="l">
              <a:lnSpc>
                <a:spcPts val="3240"/>
              </a:lnSpc>
            </a:pPr>
            <a:endParaRPr lang="en-US" sz="2700">
              <a:solidFill>
                <a:srgbClr val="0E2A2F"/>
              </a:solidFill>
              <a:latin typeface="Calibri (MS)"/>
              <a:ea typeface="Calibri (MS)"/>
              <a:cs typeface="Calibri (MS)"/>
              <a:sym typeface="Calibri (MS)"/>
            </a:endParaRPr>
          </a:p>
        </p:txBody>
      </p:sp>
      <p:grpSp>
        <p:nvGrpSpPr>
          <p:cNvPr id="39" name="Group 39"/>
          <p:cNvGrpSpPr/>
          <p:nvPr/>
        </p:nvGrpSpPr>
        <p:grpSpPr>
          <a:xfrm>
            <a:off x="16888511" y="9614916"/>
            <a:ext cx="685800" cy="593903"/>
            <a:chOff x="0" y="0"/>
            <a:chExt cx="914400" cy="791870"/>
          </a:xfrm>
        </p:grpSpPr>
        <p:sp>
          <p:nvSpPr>
            <p:cNvPr id="40" name="Freeform 40"/>
            <p:cNvSpPr/>
            <p:nvPr/>
          </p:nvSpPr>
          <p:spPr>
            <a:xfrm>
              <a:off x="0" y="0"/>
              <a:ext cx="914400" cy="791870"/>
            </a:xfrm>
            <a:custGeom>
              <a:avLst/>
              <a:gdLst/>
              <a:ahLst/>
              <a:cxnLst/>
              <a:rect l="l" t="t" r="r" b="b"/>
              <a:pathLst>
                <a:path w="914400" h="791870">
                  <a:moveTo>
                    <a:pt x="0" y="0"/>
                  </a:moveTo>
                  <a:lnTo>
                    <a:pt x="914400" y="0"/>
                  </a:lnTo>
                  <a:lnTo>
                    <a:pt x="914400" y="791870"/>
                  </a:lnTo>
                  <a:lnTo>
                    <a:pt x="0" y="791870"/>
                  </a:lnTo>
                  <a:close/>
                </a:path>
              </a:pathLst>
            </a:custGeom>
            <a:blipFill>
              <a:blip r:embed="rId4">
                <a:alphaModFix amt="0"/>
              </a:blip>
              <a:stretch>
                <a:fillRect l="-61110" r="-61110"/>
              </a:stretch>
            </a:blipFill>
          </p:spPr>
        </p:sp>
        <p:sp>
          <p:nvSpPr>
            <p:cNvPr id="41" name="TextBox 41"/>
            <p:cNvSpPr txBox="1"/>
            <p:nvPr/>
          </p:nvSpPr>
          <p:spPr>
            <a:xfrm>
              <a:off x="0" y="-28575"/>
              <a:ext cx="914400" cy="820445"/>
            </a:xfrm>
            <a:prstGeom prst="rect">
              <a:avLst/>
            </a:prstGeom>
          </p:spPr>
          <p:txBody>
            <a:bodyPr lIns="0" tIns="0" rIns="0" bIns="0" rtlCol="0" anchor="ctr"/>
            <a:lstStyle/>
            <a:p>
              <a:pPr algn="ctr">
                <a:lnSpc>
                  <a:spcPts val="1980"/>
                </a:lnSpc>
              </a:pPr>
              <a:r>
                <a:rPr lang="en-US" sz="1650" b="1">
                  <a:solidFill>
                    <a:srgbClr val="052B35"/>
                  </a:solidFill>
                  <a:latin typeface="Calibri (MS) Bold"/>
                  <a:ea typeface="Calibri (MS) Bold"/>
                  <a:cs typeface="Calibri (MS) Bold"/>
                  <a:sym typeface="Calibri (MS) Bold"/>
                </a:rPr>
                <a:t>2</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8F5"/>
        </a:solidFill>
        <a:effectLst/>
      </p:bgPr>
    </p:bg>
    <p:spTree>
      <p:nvGrpSpPr>
        <p:cNvPr id="1" name=""/>
        <p:cNvGrpSpPr/>
        <p:nvPr/>
      </p:nvGrpSpPr>
      <p:grpSpPr>
        <a:xfrm>
          <a:off x="0" y="0"/>
          <a:ext cx="0" cy="0"/>
          <a:chOff x="0" y="0"/>
          <a:chExt cx="0" cy="0"/>
        </a:xfrm>
      </p:grpSpPr>
      <p:grpSp>
        <p:nvGrpSpPr>
          <p:cNvPr id="2" name="Group 2"/>
          <p:cNvGrpSpPr/>
          <p:nvPr/>
        </p:nvGrpSpPr>
        <p:grpSpPr>
          <a:xfrm>
            <a:off x="16360159" y="472916"/>
            <a:ext cx="1248727" cy="1248727"/>
            <a:chOff x="0" y="0"/>
            <a:chExt cx="1664970" cy="1664970"/>
          </a:xfrm>
        </p:grpSpPr>
        <p:sp>
          <p:nvSpPr>
            <p:cNvPr id="3" name="Freeform 3"/>
            <p:cNvSpPr/>
            <p:nvPr/>
          </p:nvSpPr>
          <p:spPr>
            <a:xfrm>
              <a:off x="0" y="0"/>
              <a:ext cx="1664970" cy="1664970"/>
            </a:xfrm>
            <a:custGeom>
              <a:avLst/>
              <a:gdLst/>
              <a:ahLst/>
              <a:cxnLst/>
              <a:rect l="l" t="t" r="r" b="b"/>
              <a:pathLst>
                <a:path w="1664970" h="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4" name="Group 4"/>
          <p:cNvGrpSpPr/>
          <p:nvPr/>
        </p:nvGrpSpPr>
        <p:grpSpPr>
          <a:xfrm>
            <a:off x="16583920" y="576072"/>
            <a:ext cx="801195" cy="1042416"/>
            <a:chOff x="0" y="0"/>
            <a:chExt cx="1068260" cy="1389888"/>
          </a:xfrm>
        </p:grpSpPr>
        <p:sp>
          <p:nvSpPr>
            <p:cNvPr id="5" name="Freeform 5" descr="Genesis logo"/>
            <p:cNvSpPr/>
            <p:nvPr/>
          </p:nvSpPr>
          <p:spPr>
            <a:xfrm>
              <a:off x="0" y="0"/>
              <a:ext cx="1068324" cy="1389888"/>
            </a:xfrm>
            <a:custGeom>
              <a:avLst/>
              <a:gdLst/>
              <a:ahLst/>
              <a:cxnLst/>
              <a:rect l="l" t="t" r="r" b="b"/>
              <a:pathLst>
                <a:path w="1068324" h="1389888">
                  <a:moveTo>
                    <a:pt x="0" y="0"/>
                  </a:moveTo>
                  <a:lnTo>
                    <a:pt x="1068324" y="0"/>
                  </a:lnTo>
                  <a:lnTo>
                    <a:pt x="1068324" y="1389888"/>
                  </a:lnTo>
                  <a:lnTo>
                    <a:pt x="0" y="1389888"/>
                  </a:lnTo>
                  <a:lnTo>
                    <a:pt x="0" y="0"/>
                  </a:lnTo>
                  <a:close/>
                </a:path>
              </a:pathLst>
            </a:custGeom>
            <a:blipFill>
              <a:blip r:embed="rId3"/>
              <a:stretch>
                <a:fillRect r="5"/>
              </a:stretch>
            </a:blipFill>
          </p:spPr>
        </p:sp>
      </p:grpSp>
      <p:grpSp>
        <p:nvGrpSpPr>
          <p:cNvPr id="6" name="Group 6"/>
          <p:cNvGrpSpPr/>
          <p:nvPr/>
        </p:nvGrpSpPr>
        <p:grpSpPr>
          <a:xfrm>
            <a:off x="0" y="9532620"/>
            <a:ext cx="18287543" cy="754380"/>
            <a:chOff x="0" y="0"/>
            <a:chExt cx="24383390" cy="1005840"/>
          </a:xfrm>
        </p:grpSpPr>
        <p:sp>
          <p:nvSpPr>
            <p:cNvPr id="7" name="Freeform 7"/>
            <p:cNvSpPr/>
            <p:nvPr/>
          </p:nvSpPr>
          <p:spPr>
            <a:xfrm>
              <a:off x="0" y="0"/>
              <a:ext cx="24383364" cy="1005840"/>
            </a:xfrm>
            <a:custGeom>
              <a:avLst/>
              <a:gdLst/>
              <a:ahLst/>
              <a:cxnLst/>
              <a:rect l="l" t="t" r="r" b="b"/>
              <a:pathLst>
                <a:path w="24383364" h="1005840">
                  <a:moveTo>
                    <a:pt x="0" y="0"/>
                  </a:moveTo>
                  <a:lnTo>
                    <a:pt x="24383364" y="0"/>
                  </a:lnTo>
                  <a:lnTo>
                    <a:pt x="24383364" y="1005840"/>
                  </a:lnTo>
                  <a:lnTo>
                    <a:pt x="0" y="1005840"/>
                  </a:lnTo>
                  <a:close/>
                </a:path>
              </a:pathLst>
            </a:custGeom>
            <a:solidFill>
              <a:srgbClr val="052B35"/>
            </a:solidFill>
          </p:spPr>
        </p:sp>
      </p:grpSp>
      <p:grpSp>
        <p:nvGrpSpPr>
          <p:cNvPr id="8" name="Group 8"/>
          <p:cNvGrpSpPr/>
          <p:nvPr/>
        </p:nvGrpSpPr>
        <p:grpSpPr>
          <a:xfrm>
            <a:off x="3429000" y="9532620"/>
            <a:ext cx="11429543" cy="754380"/>
            <a:chOff x="0" y="0"/>
            <a:chExt cx="15239390" cy="1005840"/>
          </a:xfrm>
        </p:grpSpPr>
        <p:sp>
          <p:nvSpPr>
            <p:cNvPr id="9" name="Freeform 9"/>
            <p:cNvSpPr/>
            <p:nvPr/>
          </p:nvSpPr>
          <p:spPr>
            <a:xfrm>
              <a:off x="0" y="0"/>
              <a:ext cx="15239391" cy="1005840"/>
            </a:xfrm>
            <a:custGeom>
              <a:avLst/>
              <a:gdLst/>
              <a:ahLst/>
              <a:cxnLst/>
              <a:rect l="l" t="t" r="r" b="b"/>
              <a:pathLst>
                <a:path w="15239391" h="1005840">
                  <a:moveTo>
                    <a:pt x="0" y="0"/>
                  </a:moveTo>
                  <a:lnTo>
                    <a:pt x="15239391" y="0"/>
                  </a:lnTo>
                  <a:lnTo>
                    <a:pt x="15239391" y="1005840"/>
                  </a:lnTo>
                  <a:lnTo>
                    <a:pt x="0" y="1005840"/>
                  </a:lnTo>
                  <a:close/>
                </a:path>
              </a:pathLst>
            </a:custGeom>
            <a:blipFill>
              <a:blip r:embed="rId4">
                <a:alphaModFix amt="0"/>
              </a:blip>
              <a:stretch>
                <a:fillRect t="-245216" b="-245216"/>
              </a:stretch>
            </a:blipFill>
          </p:spPr>
        </p:sp>
        <p:sp>
          <p:nvSpPr>
            <p:cNvPr id="10" name="TextBox 10"/>
            <p:cNvSpPr txBox="1"/>
            <p:nvPr/>
          </p:nvSpPr>
          <p:spPr>
            <a:xfrm>
              <a:off x="0" y="-19050"/>
              <a:ext cx="15239390" cy="1024890"/>
            </a:xfrm>
            <a:prstGeom prst="rect">
              <a:avLst/>
            </a:prstGeom>
          </p:spPr>
          <p:txBody>
            <a:bodyPr lIns="0" tIns="0" rIns="0" bIns="0" rtlCol="0" anchor="ctr"/>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id="11" name="Group 11"/>
          <p:cNvGrpSpPr/>
          <p:nvPr/>
        </p:nvGrpSpPr>
        <p:grpSpPr>
          <a:xfrm>
            <a:off x="16888511" y="9614916"/>
            <a:ext cx="685800" cy="593903"/>
            <a:chOff x="0" y="0"/>
            <a:chExt cx="914400" cy="791870"/>
          </a:xfrm>
        </p:grpSpPr>
        <p:sp>
          <p:nvSpPr>
            <p:cNvPr id="12" name="Freeform 1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13" name="Group 13"/>
          <p:cNvGrpSpPr/>
          <p:nvPr/>
        </p:nvGrpSpPr>
        <p:grpSpPr>
          <a:xfrm rot="5400000">
            <a:off x="15903559" y="7017544"/>
            <a:ext cx="2161927" cy="1875473"/>
            <a:chOff x="0" y="0"/>
            <a:chExt cx="2882570" cy="2500630"/>
          </a:xfrm>
        </p:grpSpPr>
        <p:sp>
          <p:nvSpPr>
            <p:cNvPr id="14" name="Freeform 14"/>
            <p:cNvSpPr/>
            <p:nvPr/>
          </p:nvSpPr>
          <p:spPr>
            <a:xfrm>
              <a:off x="0" y="0"/>
              <a:ext cx="2882519" cy="2500630"/>
            </a:xfrm>
            <a:custGeom>
              <a:avLst/>
              <a:gdLst/>
              <a:ahLst/>
              <a:cxnLst/>
              <a:rect l="l" t="t" r="r" b="b"/>
              <a:pathLst>
                <a:path w="2882519" h="2500630">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r="-61306"/>
              </a:stretch>
            </a:blipFill>
            <a:ln w="23812" cap="sq">
              <a:solidFill>
                <a:srgbClr val="4FA278"/>
              </a:solidFill>
              <a:prstDash val="solid"/>
              <a:miter/>
            </a:ln>
          </p:spPr>
        </p:sp>
      </p:grpSp>
      <p:grpSp>
        <p:nvGrpSpPr>
          <p:cNvPr id="15" name="Group 15"/>
          <p:cNvGrpSpPr/>
          <p:nvPr/>
        </p:nvGrpSpPr>
        <p:grpSpPr>
          <a:xfrm rot="5400000">
            <a:off x="14613988" y="8011954"/>
            <a:ext cx="1449219" cy="1258252"/>
            <a:chOff x="0" y="0"/>
            <a:chExt cx="1932292" cy="1677670"/>
          </a:xfrm>
        </p:grpSpPr>
        <p:sp>
          <p:nvSpPr>
            <p:cNvPr id="16" name="Freeform 16"/>
            <p:cNvSpPr/>
            <p:nvPr/>
          </p:nvSpPr>
          <p:spPr>
            <a:xfrm>
              <a:off x="0" y="0"/>
              <a:ext cx="1932178" cy="1677670"/>
            </a:xfrm>
            <a:custGeom>
              <a:avLst/>
              <a:gdLst/>
              <a:ahLst/>
              <a:cxnLst/>
              <a:rect l="l" t="t" r="r" b="b"/>
              <a:pathLst>
                <a:path w="1932178" h="1677670">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r="-61406"/>
              </a:stretch>
            </a:blipFill>
            <a:ln w="23812" cap="sq">
              <a:solidFill>
                <a:srgbClr val="4FA278"/>
              </a:solidFill>
              <a:prstDash val="solid"/>
              <a:miter/>
            </a:ln>
          </p:spPr>
        </p:sp>
      </p:grpSp>
      <p:grpSp>
        <p:nvGrpSpPr>
          <p:cNvPr id="17" name="Group 17"/>
          <p:cNvGrpSpPr/>
          <p:nvPr/>
        </p:nvGrpSpPr>
        <p:grpSpPr>
          <a:xfrm rot="5400000">
            <a:off x="17323410" y="5715036"/>
            <a:ext cx="1449219" cy="1325809"/>
            <a:chOff x="0" y="0"/>
            <a:chExt cx="1932292" cy="1767745"/>
          </a:xfrm>
        </p:grpSpPr>
        <p:sp>
          <p:nvSpPr>
            <p:cNvPr id="18" name="Freeform 18"/>
            <p:cNvSpPr/>
            <p:nvPr/>
          </p:nvSpPr>
          <p:spPr>
            <a:xfrm>
              <a:off x="0" y="0"/>
              <a:ext cx="1932178" cy="1767745"/>
            </a:xfrm>
            <a:custGeom>
              <a:avLst/>
              <a:gdLst/>
              <a:ahLst/>
              <a:cxnLst/>
              <a:rect l="l" t="t" r="r" b="b"/>
              <a:pathLst>
                <a:path w="1932178" h="1767745">
                  <a:moveTo>
                    <a:pt x="0" y="883872"/>
                  </a:moveTo>
                  <a:lnTo>
                    <a:pt x="419354" y="0"/>
                  </a:lnTo>
                  <a:lnTo>
                    <a:pt x="1512824" y="0"/>
                  </a:lnTo>
                  <a:lnTo>
                    <a:pt x="1932178" y="883872"/>
                  </a:lnTo>
                  <a:lnTo>
                    <a:pt x="1512824" y="1767745"/>
                  </a:lnTo>
                  <a:lnTo>
                    <a:pt x="419354" y="1767745"/>
                  </a:lnTo>
                  <a:close/>
                </a:path>
              </a:pathLst>
            </a:custGeom>
            <a:blipFill>
              <a:blip r:embed="rId4">
                <a:alphaModFix amt="0"/>
              </a:blip>
              <a:stretch>
                <a:fillRect l="-61400" r="-61406" b="5095"/>
              </a:stretch>
            </a:blipFill>
            <a:ln w="23812" cap="sq">
              <a:solidFill>
                <a:srgbClr val="4FA278"/>
              </a:solidFill>
              <a:prstDash val="solid"/>
              <a:miter/>
            </a:ln>
          </p:spPr>
        </p:sp>
      </p:grpSp>
      <p:grpSp>
        <p:nvGrpSpPr>
          <p:cNvPr id="19" name="Group 19"/>
          <p:cNvGrpSpPr/>
          <p:nvPr/>
        </p:nvGrpSpPr>
        <p:grpSpPr>
          <a:xfrm>
            <a:off x="4869180" y="-221300"/>
            <a:ext cx="9590004" cy="2637160"/>
            <a:chOff x="0" y="0"/>
            <a:chExt cx="12786672" cy="3516213"/>
          </a:xfrm>
        </p:grpSpPr>
        <p:sp>
          <p:nvSpPr>
            <p:cNvPr id="20" name="Freeform 20"/>
            <p:cNvSpPr/>
            <p:nvPr/>
          </p:nvSpPr>
          <p:spPr>
            <a:xfrm>
              <a:off x="0" y="0"/>
              <a:ext cx="12786672" cy="3516213"/>
            </a:xfrm>
            <a:custGeom>
              <a:avLst/>
              <a:gdLst/>
              <a:ahLst/>
              <a:cxnLst/>
              <a:rect l="l" t="t" r="r" b="b"/>
              <a:pathLst>
                <a:path w="12786672" h="3516213">
                  <a:moveTo>
                    <a:pt x="0" y="0"/>
                  </a:moveTo>
                  <a:lnTo>
                    <a:pt x="12786672" y="0"/>
                  </a:lnTo>
                  <a:lnTo>
                    <a:pt x="12786672" y="3516213"/>
                  </a:lnTo>
                  <a:lnTo>
                    <a:pt x="0" y="3516213"/>
                  </a:lnTo>
                  <a:close/>
                </a:path>
              </a:pathLst>
            </a:custGeom>
            <a:blipFill>
              <a:blip r:embed="rId4">
                <a:alphaModFix amt="0"/>
              </a:blip>
              <a:stretch>
                <a:fillRect t="-59696" r="-17279" b="-6505"/>
              </a:stretch>
            </a:blipFill>
          </p:spPr>
        </p:sp>
        <p:sp>
          <p:nvSpPr>
            <p:cNvPr id="21" name="TextBox 21"/>
            <p:cNvSpPr txBox="1"/>
            <p:nvPr/>
          </p:nvSpPr>
          <p:spPr>
            <a:xfrm>
              <a:off x="0" y="-19050"/>
              <a:ext cx="12786672" cy="3535263"/>
            </a:xfrm>
            <a:prstGeom prst="rect">
              <a:avLst/>
            </a:prstGeom>
          </p:spPr>
          <p:txBody>
            <a:bodyPr lIns="0" tIns="0" rIns="0" bIns="0" rtlCol="0" anchor="ctr"/>
            <a:lstStyle/>
            <a:p>
              <a:pPr algn="ctr">
                <a:lnSpc>
                  <a:spcPts val="4320"/>
                </a:lnSpc>
              </a:pPr>
              <a:r>
                <a:rPr lang="en-US" sz="3600" b="1" spc="150">
                  <a:solidFill>
                    <a:srgbClr val="052B35"/>
                  </a:solidFill>
                  <a:latin typeface="Cambria Bold"/>
                  <a:ea typeface="Cambria Bold"/>
                  <a:cs typeface="Cambria Bold"/>
                  <a:sym typeface="Cambria Bold"/>
                </a:rPr>
                <a:t>WHO IS AFFECTED?</a:t>
              </a:r>
            </a:p>
          </p:txBody>
        </p:sp>
      </p:grpSp>
      <p:grpSp>
        <p:nvGrpSpPr>
          <p:cNvPr id="22" name="Group 22"/>
          <p:cNvGrpSpPr/>
          <p:nvPr/>
        </p:nvGrpSpPr>
        <p:grpSpPr>
          <a:xfrm>
            <a:off x="678656" y="472916"/>
            <a:ext cx="3923347" cy="1248727"/>
            <a:chOff x="0" y="0"/>
            <a:chExt cx="5231130" cy="1664970"/>
          </a:xfrm>
        </p:grpSpPr>
        <p:sp>
          <p:nvSpPr>
            <p:cNvPr id="23" name="Freeform 23"/>
            <p:cNvSpPr/>
            <p:nvPr/>
          </p:nvSpPr>
          <p:spPr>
            <a:xfrm>
              <a:off x="0" y="0"/>
              <a:ext cx="5231130" cy="1664970"/>
            </a:xfrm>
            <a:custGeom>
              <a:avLst/>
              <a:gdLst/>
              <a:ahLst/>
              <a:cxnLst/>
              <a:rect l="l" t="t" r="r" b="b"/>
              <a:pathLst>
                <a:path w="5231130" h="166497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24" name="Group 24"/>
          <p:cNvGrpSpPr/>
          <p:nvPr/>
        </p:nvGrpSpPr>
        <p:grpSpPr>
          <a:xfrm>
            <a:off x="898112" y="678656"/>
            <a:ext cx="960692" cy="837248"/>
            <a:chOff x="0" y="0"/>
            <a:chExt cx="1280922" cy="1116330"/>
          </a:xfrm>
        </p:grpSpPr>
        <p:sp>
          <p:nvSpPr>
            <p:cNvPr id="25" name="Freeform 25"/>
            <p:cNvSpPr/>
            <p:nvPr/>
          </p:nvSpPr>
          <p:spPr>
            <a:xfrm>
              <a:off x="0" y="0"/>
              <a:ext cx="1280922" cy="1116330"/>
            </a:xfrm>
            <a:custGeom>
              <a:avLst/>
              <a:gdLst/>
              <a:ahLst/>
              <a:cxnLst/>
              <a:rect l="l" t="t" r="r" b="b"/>
              <a:pathLst>
                <a:path w="1280922" h="1116330">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id="26" name="Group 26"/>
          <p:cNvGrpSpPr/>
          <p:nvPr/>
        </p:nvGrpSpPr>
        <p:grpSpPr>
          <a:xfrm>
            <a:off x="1104138" y="822960"/>
            <a:ext cx="548640" cy="548640"/>
            <a:chOff x="0" y="0"/>
            <a:chExt cx="731520" cy="731520"/>
          </a:xfrm>
        </p:grpSpPr>
        <p:sp>
          <p:nvSpPr>
            <p:cNvPr id="27" name="Freeform 27" descr="Team icon"/>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5"/>
              <a:stretch>
                <a:fillRect/>
              </a:stretch>
            </a:blipFill>
          </p:spPr>
        </p:sp>
      </p:grpSp>
      <p:grpSp>
        <p:nvGrpSpPr>
          <p:cNvPr id="28" name="Group 28"/>
          <p:cNvGrpSpPr/>
          <p:nvPr/>
        </p:nvGrpSpPr>
        <p:grpSpPr>
          <a:xfrm>
            <a:off x="2057400" y="576072"/>
            <a:ext cx="2441448" cy="1042416"/>
            <a:chOff x="0" y="0"/>
            <a:chExt cx="3255264" cy="1389888"/>
          </a:xfrm>
        </p:grpSpPr>
        <p:sp>
          <p:nvSpPr>
            <p:cNvPr id="29" name="Freeform 29"/>
            <p:cNvSpPr/>
            <p:nvPr/>
          </p:nvSpPr>
          <p:spPr>
            <a:xfrm>
              <a:off x="0" y="0"/>
              <a:ext cx="3255264" cy="1389888"/>
            </a:xfrm>
            <a:custGeom>
              <a:avLst/>
              <a:gdLst/>
              <a:ahLst/>
              <a:cxnLst/>
              <a:rect l="l" t="t" r="r" b="b"/>
              <a:pathLst>
                <a:path w="3255264" h="1389888">
                  <a:moveTo>
                    <a:pt x="0" y="0"/>
                  </a:moveTo>
                  <a:lnTo>
                    <a:pt x="3255264" y="0"/>
                  </a:lnTo>
                  <a:lnTo>
                    <a:pt x="3255264" y="1389888"/>
                  </a:lnTo>
                  <a:lnTo>
                    <a:pt x="0" y="1389888"/>
                  </a:lnTo>
                  <a:close/>
                </a:path>
              </a:pathLst>
            </a:custGeom>
            <a:blipFill>
              <a:blip r:embed="rId4">
                <a:alphaModFix amt="0"/>
              </a:blip>
              <a:stretch>
                <a:fillRect l="-4781" r="-4781"/>
              </a:stretch>
            </a:blipFill>
          </p:spPr>
        </p:sp>
        <p:sp>
          <p:nvSpPr>
            <p:cNvPr id="30" name="TextBox 30"/>
            <p:cNvSpPr txBox="1"/>
            <p:nvPr/>
          </p:nvSpPr>
          <p:spPr>
            <a:xfrm>
              <a:off x="0" y="-28575"/>
              <a:ext cx="3255264" cy="1418463"/>
            </a:xfrm>
            <a:prstGeom prst="rect">
              <a:avLst/>
            </a:prstGeom>
          </p:spPr>
          <p:txBody>
            <a:bodyPr lIns="0" tIns="0" rIns="0" bIns="0" rtlCol="0" anchor="ctr"/>
            <a:lstStyle/>
            <a:p>
              <a:pPr algn="l">
                <a:lnSpc>
                  <a:spcPts val="1620"/>
                </a:lnSpc>
              </a:pPr>
              <a:r>
                <a:rPr lang="en-US" sz="1350" b="1" spc="449">
                  <a:solidFill>
                    <a:srgbClr val="5B6F6B"/>
                  </a:solidFill>
                  <a:latin typeface="Calibri (MS) Bold"/>
                  <a:ea typeface="Calibri (MS) Bold"/>
                  <a:cs typeface="Calibri (MS) Bold"/>
                  <a:sym typeface="Calibri (MS) Bold"/>
                </a:rPr>
                <a:t>TEAM</a:t>
              </a:r>
            </a:p>
            <a:p>
              <a:pPr algn="l">
                <a:lnSpc>
                  <a:spcPts val="2700"/>
                </a:lnSpc>
              </a:pPr>
              <a:r>
                <a:rPr lang="en-US" sz="2250" b="1" spc="749">
                  <a:solidFill>
                    <a:srgbClr val="026855"/>
                  </a:solidFill>
                  <a:latin typeface="Calibri (MS) Bold"/>
                  <a:ea typeface="Calibri (MS) Bold"/>
                  <a:cs typeface="Calibri (MS) Bold"/>
                  <a:sym typeface="Calibri (MS) Bold"/>
                </a:rPr>
                <a:t>AURA</a:t>
              </a:r>
            </a:p>
          </p:txBody>
        </p:sp>
      </p:grpSp>
      <p:grpSp>
        <p:nvGrpSpPr>
          <p:cNvPr id="31" name="Group 31"/>
          <p:cNvGrpSpPr/>
          <p:nvPr/>
        </p:nvGrpSpPr>
        <p:grpSpPr>
          <a:xfrm>
            <a:off x="822960" y="2194560"/>
            <a:ext cx="685800" cy="593903"/>
            <a:chOff x="0" y="0"/>
            <a:chExt cx="914400" cy="791870"/>
          </a:xfrm>
        </p:grpSpPr>
        <p:sp>
          <p:nvSpPr>
            <p:cNvPr id="32" name="Freeform 3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33" name="Group 33"/>
          <p:cNvGrpSpPr/>
          <p:nvPr/>
        </p:nvGrpSpPr>
        <p:grpSpPr>
          <a:xfrm>
            <a:off x="960120" y="2285086"/>
            <a:ext cx="411480" cy="411480"/>
            <a:chOff x="0" y="0"/>
            <a:chExt cx="548640" cy="548640"/>
          </a:xfrm>
        </p:grpSpPr>
        <p:sp>
          <p:nvSpPr>
            <p:cNvPr id="34" name="Freeform 34" descr="Lightbulb icon"/>
            <p:cNvSpPr/>
            <p:nvPr/>
          </p:nvSpPr>
          <p:spPr>
            <a:xfrm>
              <a:off x="0" y="0"/>
              <a:ext cx="548640" cy="548640"/>
            </a:xfrm>
            <a:custGeom>
              <a:avLst/>
              <a:gdLst/>
              <a:ahLst/>
              <a:cxnLst/>
              <a:rect l="l" t="t" r="r" b="b"/>
              <a:pathLst>
                <a:path w="548640" h="548640">
                  <a:moveTo>
                    <a:pt x="0" y="0"/>
                  </a:moveTo>
                  <a:lnTo>
                    <a:pt x="548640" y="0"/>
                  </a:lnTo>
                  <a:lnTo>
                    <a:pt x="548640" y="548640"/>
                  </a:lnTo>
                  <a:lnTo>
                    <a:pt x="0" y="548640"/>
                  </a:lnTo>
                  <a:lnTo>
                    <a:pt x="0" y="0"/>
                  </a:lnTo>
                  <a:close/>
                </a:path>
              </a:pathLst>
            </a:custGeom>
            <a:blipFill>
              <a:blip r:embed="rId6"/>
              <a:stretch>
                <a:fillRect/>
              </a:stretch>
            </a:blipFill>
          </p:spPr>
        </p:sp>
      </p:grpSp>
      <p:grpSp>
        <p:nvGrpSpPr>
          <p:cNvPr id="35" name="Group 35"/>
          <p:cNvGrpSpPr/>
          <p:nvPr/>
        </p:nvGrpSpPr>
        <p:grpSpPr>
          <a:xfrm>
            <a:off x="1565924" y="2114321"/>
            <a:ext cx="14401800" cy="754380"/>
            <a:chOff x="0" y="0"/>
            <a:chExt cx="19202400" cy="1005840"/>
          </a:xfrm>
        </p:grpSpPr>
        <p:sp>
          <p:nvSpPr>
            <p:cNvPr id="36" name="Freeform 36"/>
            <p:cNvSpPr/>
            <p:nvPr/>
          </p:nvSpPr>
          <p:spPr>
            <a:xfrm>
              <a:off x="0" y="0"/>
              <a:ext cx="19202400" cy="1005840"/>
            </a:xfrm>
            <a:custGeom>
              <a:avLst/>
              <a:gdLst/>
              <a:ahLst/>
              <a:cxnLst/>
              <a:rect l="l" t="t" r="r" b="b"/>
              <a:pathLst>
                <a:path w="19202400" h="1005840">
                  <a:moveTo>
                    <a:pt x="0" y="0"/>
                  </a:moveTo>
                  <a:lnTo>
                    <a:pt x="19202400" y="0"/>
                  </a:lnTo>
                  <a:lnTo>
                    <a:pt x="19202400" y="1005840"/>
                  </a:lnTo>
                  <a:lnTo>
                    <a:pt x="0" y="1005840"/>
                  </a:lnTo>
                  <a:close/>
                </a:path>
              </a:pathLst>
            </a:custGeom>
            <a:blipFill>
              <a:blip r:embed="rId4">
                <a:alphaModFix amt="0"/>
              </a:blip>
              <a:stretch>
                <a:fillRect t="-321987" b="-321987"/>
              </a:stretch>
            </a:blipFill>
          </p:spPr>
        </p:sp>
        <p:sp>
          <p:nvSpPr>
            <p:cNvPr id="37" name="TextBox 37"/>
            <p:cNvSpPr txBox="1"/>
            <p:nvPr/>
          </p:nvSpPr>
          <p:spPr>
            <a:xfrm>
              <a:off x="0" y="-57150"/>
              <a:ext cx="19202400" cy="1062990"/>
            </a:xfrm>
            <a:prstGeom prst="rect">
              <a:avLst/>
            </a:prstGeom>
          </p:spPr>
          <p:txBody>
            <a:bodyPr lIns="0" tIns="0" rIns="0" bIns="0" rtlCol="0" anchor="ctr"/>
            <a:lstStyle/>
            <a:p>
              <a:pPr algn="l">
                <a:lnSpc>
                  <a:spcPts val="3240"/>
                </a:lnSpc>
              </a:pPr>
              <a:r>
                <a:rPr lang="en-US" sz="2700" b="1">
                  <a:solidFill>
                    <a:srgbClr val="094542"/>
                  </a:solidFill>
                  <a:latin typeface="Calibri (MS) Bold"/>
                  <a:ea typeface="Calibri (MS) Bold"/>
                  <a:cs typeface="Calibri (MS) Bold"/>
                  <a:sym typeface="Calibri (MS) Bold"/>
                </a:rPr>
                <a:t>Target users, stakeholders, beneficiaries</a:t>
              </a:r>
            </a:p>
          </p:txBody>
        </p:sp>
      </p:grpSp>
      <p:sp>
        <p:nvSpPr>
          <p:cNvPr id="38" name="TextBox 38"/>
          <p:cNvSpPr txBox="1"/>
          <p:nvPr/>
        </p:nvSpPr>
        <p:spPr>
          <a:xfrm>
            <a:off x="1378458" y="2964386"/>
            <a:ext cx="15308131" cy="6071858"/>
          </a:xfrm>
          <a:prstGeom prst="rect">
            <a:avLst/>
          </a:prstGeom>
        </p:spPr>
        <p:txBody>
          <a:bodyPr lIns="0" tIns="0" rIns="0" bIns="0" rtlCol="0" anchor="t">
            <a:spAutoFit/>
          </a:bodyPr>
          <a:lstStyle/>
          <a:p>
            <a:pPr algn="l">
              <a:lnSpc>
                <a:spcPts val="3172"/>
              </a:lnSpc>
            </a:pPr>
            <a:r>
              <a:rPr lang="en-US" sz="2643" b="1">
                <a:solidFill>
                  <a:srgbClr val="0E2A2F"/>
                </a:solidFill>
                <a:latin typeface="Calibri (MS) Bold"/>
                <a:ea typeface="Calibri (MS) Bold"/>
                <a:cs typeface="Calibri (MS) Bold"/>
                <a:sym typeface="Calibri (MS) Bold"/>
              </a:rPr>
              <a:t>Primary users / target group</a:t>
            </a:r>
          </a:p>
          <a:p>
            <a:pPr marL="570698" lvl="1" indent="-285349" algn="l">
              <a:lnSpc>
                <a:spcPts val="3172"/>
              </a:lnSpc>
              <a:buFont typeface="Arial"/>
              <a:buChar char="•"/>
            </a:pPr>
            <a:r>
              <a:rPr lang="en-US" sz="2643">
                <a:solidFill>
                  <a:srgbClr val="0E2A2F"/>
                </a:solidFill>
                <a:latin typeface="Calibri (MS)"/>
                <a:ea typeface="Calibri (MS)"/>
                <a:cs typeface="Calibri (MS)"/>
                <a:sym typeface="Calibri (MS)"/>
              </a:rPr>
              <a:t>Doctors and clinicians (oncologists, geneticists, general physicians) who use the system to get DNA-based risk predictions and treatment suggestions. Patients with a family history of genetic disease or chronic conditions, who get early risk reports.</a:t>
            </a:r>
          </a:p>
          <a:p>
            <a:pPr algn="l">
              <a:lnSpc>
                <a:spcPts val="3172"/>
              </a:lnSpc>
            </a:pPr>
            <a:endParaRPr lang="en-US" sz="2643">
              <a:solidFill>
                <a:srgbClr val="0E2A2F"/>
              </a:solidFill>
              <a:latin typeface="Calibri (MS)"/>
              <a:ea typeface="Calibri (MS)"/>
              <a:cs typeface="Calibri (MS)"/>
              <a:sym typeface="Calibri (MS)"/>
            </a:endParaRPr>
          </a:p>
          <a:p>
            <a:pPr algn="l">
              <a:lnSpc>
                <a:spcPts val="3172"/>
              </a:lnSpc>
            </a:pPr>
            <a:r>
              <a:rPr lang="en-US" sz="2643" b="1">
                <a:solidFill>
                  <a:srgbClr val="0E2A2F"/>
                </a:solidFill>
                <a:latin typeface="Calibri (MS) Bold"/>
                <a:ea typeface="Calibri (MS) Bold"/>
                <a:cs typeface="Calibri (MS) Bold"/>
                <a:sym typeface="Calibri (MS) Bold"/>
              </a:rPr>
              <a:t>Secondary stakeholders</a:t>
            </a:r>
          </a:p>
          <a:p>
            <a:pPr marL="570698" lvl="1" indent="-285349" algn="l">
              <a:lnSpc>
                <a:spcPts val="3172"/>
              </a:lnSpc>
              <a:buFont typeface="Arial"/>
              <a:buChar char="•"/>
            </a:pPr>
            <a:r>
              <a:rPr lang="en-US" sz="2643">
                <a:solidFill>
                  <a:srgbClr val="0E2A2F"/>
                </a:solidFill>
                <a:latin typeface="Calibri (MS)"/>
                <a:ea typeface="Calibri (MS)"/>
                <a:cs typeface="Calibri (MS)"/>
                <a:sym typeface="Calibri (MS)"/>
              </a:rPr>
              <a:t>Hospitals and diagnostic labs: adopt and deploy the system, and supply the sequencing and clinical data.</a:t>
            </a:r>
          </a:p>
          <a:p>
            <a:pPr marL="570698" lvl="1" indent="-285349" algn="l">
              <a:lnSpc>
                <a:spcPts val="3172"/>
              </a:lnSpc>
              <a:buFont typeface="Arial"/>
              <a:buChar char="•"/>
            </a:pPr>
            <a:r>
              <a:rPr lang="en-US" sz="2643">
                <a:solidFill>
                  <a:srgbClr val="0E2A2F"/>
                </a:solidFill>
                <a:latin typeface="Calibri (MS)"/>
                <a:ea typeface="Calibri (MS)"/>
                <a:cs typeface="Calibri (MS)"/>
                <a:sym typeface="Calibri (MS)"/>
              </a:rPr>
              <a:t>Pharma and biotech companies: use the genetic insights for drug matching, patient selection in clinical trials, and developing targeted therapies.</a:t>
            </a:r>
          </a:p>
          <a:p>
            <a:pPr marL="570698" lvl="1" indent="-285349" algn="l">
              <a:lnSpc>
                <a:spcPts val="3172"/>
              </a:lnSpc>
              <a:buFont typeface="Arial"/>
              <a:buChar char="•"/>
            </a:pPr>
            <a:r>
              <a:rPr lang="en-US" sz="2643">
                <a:solidFill>
                  <a:srgbClr val="0E2A2F"/>
                </a:solidFill>
                <a:latin typeface="Calibri (MS)"/>
                <a:ea typeface="Calibri (MS)"/>
                <a:cs typeface="Calibri (MS)"/>
                <a:sym typeface="Calibri (MS)"/>
              </a:rPr>
              <a:t>Researchers and academic institutions: use the model and its findings to study disease-gene links and improve the AI.</a:t>
            </a:r>
          </a:p>
          <a:p>
            <a:pPr algn="l">
              <a:lnSpc>
                <a:spcPts val="3172"/>
              </a:lnSpc>
            </a:pPr>
            <a:endParaRPr lang="en-US" sz="2643">
              <a:solidFill>
                <a:srgbClr val="0E2A2F"/>
              </a:solidFill>
              <a:latin typeface="Calibri (MS)"/>
              <a:ea typeface="Calibri (MS)"/>
              <a:cs typeface="Calibri (MS)"/>
              <a:sym typeface="Calibri (MS)"/>
            </a:endParaRPr>
          </a:p>
          <a:p>
            <a:pPr algn="l">
              <a:lnSpc>
                <a:spcPts val="3172"/>
              </a:lnSpc>
            </a:pPr>
            <a:r>
              <a:rPr lang="en-US" sz="2643" b="1">
                <a:solidFill>
                  <a:srgbClr val="0E2A2F"/>
                </a:solidFill>
                <a:latin typeface="Calibri (MS) Bold"/>
                <a:ea typeface="Calibri (MS) Bold"/>
                <a:cs typeface="Calibri (MS) Bold"/>
                <a:sym typeface="Calibri (MS) Bold"/>
              </a:rPr>
              <a:t>Who benefits if the problem is solved?</a:t>
            </a:r>
          </a:p>
          <a:p>
            <a:pPr marL="570698" lvl="1" indent="-285349" algn="l">
              <a:lnSpc>
                <a:spcPts val="3172"/>
              </a:lnSpc>
              <a:buFont typeface="Arial"/>
              <a:buChar char="•"/>
            </a:pPr>
            <a:r>
              <a:rPr lang="en-US" sz="2643">
                <a:solidFill>
                  <a:srgbClr val="0E2A2F"/>
                </a:solidFill>
                <a:latin typeface="Calibri (MS)"/>
                <a:ea typeface="Calibri (MS)"/>
                <a:cs typeface="Calibri (MS)"/>
                <a:sym typeface="Calibri (MS)"/>
              </a:rPr>
              <a:t>Patients get earlier, personalized, safer treatment; doctors and hospitals make better decisions at lower cost; and the wider public health system moves from late-stage care to prevention.</a:t>
            </a:r>
          </a:p>
        </p:txBody>
      </p:sp>
      <p:grpSp>
        <p:nvGrpSpPr>
          <p:cNvPr id="39" name="Group 39"/>
          <p:cNvGrpSpPr/>
          <p:nvPr/>
        </p:nvGrpSpPr>
        <p:grpSpPr>
          <a:xfrm>
            <a:off x="16888511" y="9614916"/>
            <a:ext cx="685800" cy="593903"/>
            <a:chOff x="0" y="0"/>
            <a:chExt cx="914400" cy="791870"/>
          </a:xfrm>
        </p:grpSpPr>
        <p:sp>
          <p:nvSpPr>
            <p:cNvPr id="40" name="Freeform 40"/>
            <p:cNvSpPr/>
            <p:nvPr/>
          </p:nvSpPr>
          <p:spPr>
            <a:xfrm>
              <a:off x="0" y="0"/>
              <a:ext cx="914400" cy="791870"/>
            </a:xfrm>
            <a:custGeom>
              <a:avLst/>
              <a:gdLst/>
              <a:ahLst/>
              <a:cxnLst/>
              <a:rect l="l" t="t" r="r" b="b"/>
              <a:pathLst>
                <a:path w="914400" h="791870">
                  <a:moveTo>
                    <a:pt x="0" y="0"/>
                  </a:moveTo>
                  <a:lnTo>
                    <a:pt x="914400" y="0"/>
                  </a:lnTo>
                  <a:lnTo>
                    <a:pt x="914400" y="791870"/>
                  </a:lnTo>
                  <a:lnTo>
                    <a:pt x="0" y="791870"/>
                  </a:lnTo>
                  <a:close/>
                </a:path>
              </a:pathLst>
            </a:custGeom>
            <a:blipFill>
              <a:blip r:embed="rId4">
                <a:alphaModFix amt="0"/>
              </a:blip>
              <a:stretch>
                <a:fillRect l="-61110" r="-61110"/>
              </a:stretch>
            </a:blipFill>
          </p:spPr>
        </p:sp>
        <p:sp>
          <p:nvSpPr>
            <p:cNvPr id="41" name="TextBox 41"/>
            <p:cNvSpPr txBox="1"/>
            <p:nvPr/>
          </p:nvSpPr>
          <p:spPr>
            <a:xfrm>
              <a:off x="0" y="-28575"/>
              <a:ext cx="914400" cy="820445"/>
            </a:xfrm>
            <a:prstGeom prst="rect">
              <a:avLst/>
            </a:prstGeom>
          </p:spPr>
          <p:txBody>
            <a:bodyPr lIns="0" tIns="0" rIns="0" bIns="0" rtlCol="0" anchor="ctr"/>
            <a:lstStyle/>
            <a:p>
              <a:pPr algn="ctr">
                <a:lnSpc>
                  <a:spcPts val="1980"/>
                </a:lnSpc>
              </a:pPr>
              <a:r>
                <a:rPr lang="en-US" sz="1650" b="1">
                  <a:solidFill>
                    <a:srgbClr val="052B35"/>
                  </a:solidFill>
                  <a:latin typeface="Calibri (MS) Bold"/>
                  <a:ea typeface="Calibri (MS) Bold"/>
                  <a:cs typeface="Calibri (MS) Bold"/>
                  <a:sym typeface="Calibri (MS) Bold"/>
                </a:rPr>
                <a:t>3</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8F5"/>
        </a:solidFill>
        <a:effectLst/>
      </p:bgPr>
    </p:bg>
    <p:spTree>
      <p:nvGrpSpPr>
        <p:cNvPr id="1" name=""/>
        <p:cNvGrpSpPr/>
        <p:nvPr/>
      </p:nvGrpSpPr>
      <p:grpSpPr>
        <a:xfrm>
          <a:off x="0" y="0"/>
          <a:ext cx="0" cy="0"/>
          <a:chOff x="0" y="0"/>
          <a:chExt cx="0" cy="0"/>
        </a:xfrm>
      </p:grpSpPr>
      <p:grpSp>
        <p:nvGrpSpPr>
          <p:cNvPr id="2" name="Group 2"/>
          <p:cNvGrpSpPr/>
          <p:nvPr/>
        </p:nvGrpSpPr>
        <p:grpSpPr>
          <a:xfrm>
            <a:off x="16360159" y="472916"/>
            <a:ext cx="1248727" cy="1248727"/>
            <a:chOff x="0" y="0"/>
            <a:chExt cx="1664970" cy="1664970"/>
          </a:xfrm>
        </p:grpSpPr>
        <p:sp>
          <p:nvSpPr>
            <p:cNvPr id="3" name="Freeform 3"/>
            <p:cNvSpPr/>
            <p:nvPr/>
          </p:nvSpPr>
          <p:spPr>
            <a:xfrm>
              <a:off x="0" y="0"/>
              <a:ext cx="1664970" cy="1664970"/>
            </a:xfrm>
            <a:custGeom>
              <a:avLst/>
              <a:gdLst/>
              <a:ahLst/>
              <a:cxnLst/>
              <a:rect l="l" t="t" r="r" b="b"/>
              <a:pathLst>
                <a:path w="1664970" h="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4" name="Group 4"/>
          <p:cNvGrpSpPr/>
          <p:nvPr/>
        </p:nvGrpSpPr>
        <p:grpSpPr>
          <a:xfrm>
            <a:off x="16583920" y="576072"/>
            <a:ext cx="801195" cy="1042416"/>
            <a:chOff x="0" y="0"/>
            <a:chExt cx="1068260" cy="1389888"/>
          </a:xfrm>
        </p:grpSpPr>
        <p:sp>
          <p:nvSpPr>
            <p:cNvPr id="5" name="Freeform 5" descr="Genesis logo"/>
            <p:cNvSpPr/>
            <p:nvPr/>
          </p:nvSpPr>
          <p:spPr>
            <a:xfrm>
              <a:off x="0" y="0"/>
              <a:ext cx="1068324" cy="1389888"/>
            </a:xfrm>
            <a:custGeom>
              <a:avLst/>
              <a:gdLst/>
              <a:ahLst/>
              <a:cxnLst/>
              <a:rect l="l" t="t" r="r" b="b"/>
              <a:pathLst>
                <a:path w="1068324" h="1389888">
                  <a:moveTo>
                    <a:pt x="0" y="0"/>
                  </a:moveTo>
                  <a:lnTo>
                    <a:pt x="1068324" y="0"/>
                  </a:lnTo>
                  <a:lnTo>
                    <a:pt x="1068324" y="1389888"/>
                  </a:lnTo>
                  <a:lnTo>
                    <a:pt x="0" y="1389888"/>
                  </a:lnTo>
                  <a:lnTo>
                    <a:pt x="0" y="0"/>
                  </a:lnTo>
                  <a:close/>
                </a:path>
              </a:pathLst>
            </a:custGeom>
            <a:blipFill>
              <a:blip r:embed="rId3"/>
              <a:stretch>
                <a:fillRect r="5"/>
              </a:stretch>
            </a:blipFill>
          </p:spPr>
        </p:sp>
      </p:grpSp>
      <p:grpSp>
        <p:nvGrpSpPr>
          <p:cNvPr id="6" name="Group 6"/>
          <p:cNvGrpSpPr/>
          <p:nvPr/>
        </p:nvGrpSpPr>
        <p:grpSpPr>
          <a:xfrm>
            <a:off x="0" y="9532620"/>
            <a:ext cx="18287543" cy="754380"/>
            <a:chOff x="0" y="0"/>
            <a:chExt cx="24383390" cy="1005840"/>
          </a:xfrm>
        </p:grpSpPr>
        <p:sp>
          <p:nvSpPr>
            <p:cNvPr id="7" name="Freeform 7"/>
            <p:cNvSpPr/>
            <p:nvPr/>
          </p:nvSpPr>
          <p:spPr>
            <a:xfrm>
              <a:off x="0" y="0"/>
              <a:ext cx="24383364" cy="1005840"/>
            </a:xfrm>
            <a:custGeom>
              <a:avLst/>
              <a:gdLst/>
              <a:ahLst/>
              <a:cxnLst/>
              <a:rect l="l" t="t" r="r" b="b"/>
              <a:pathLst>
                <a:path w="24383364" h="1005840">
                  <a:moveTo>
                    <a:pt x="0" y="0"/>
                  </a:moveTo>
                  <a:lnTo>
                    <a:pt x="24383364" y="0"/>
                  </a:lnTo>
                  <a:lnTo>
                    <a:pt x="24383364" y="1005840"/>
                  </a:lnTo>
                  <a:lnTo>
                    <a:pt x="0" y="1005840"/>
                  </a:lnTo>
                  <a:close/>
                </a:path>
              </a:pathLst>
            </a:custGeom>
            <a:solidFill>
              <a:srgbClr val="052B35"/>
            </a:solidFill>
          </p:spPr>
        </p:sp>
      </p:grpSp>
      <p:grpSp>
        <p:nvGrpSpPr>
          <p:cNvPr id="8" name="Group 8"/>
          <p:cNvGrpSpPr/>
          <p:nvPr/>
        </p:nvGrpSpPr>
        <p:grpSpPr>
          <a:xfrm>
            <a:off x="3429000" y="9532620"/>
            <a:ext cx="11429543" cy="754380"/>
            <a:chOff x="0" y="0"/>
            <a:chExt cx="15239390" cy="1005840"/>
          </a:xfrm>
        </p:grpSpPr>
        <p:sp>
          <p:nvSpPr>
            <p:cNvPr id="9" name="Freeform 9"/>
            <p:cNvSpPr/>
            <p:nvPr/>
          </p:nvSpPr>
          <p:spPr>
            <a:xfrm>
              <a:off x="0" y="0"/>
              <a:ext cx="15239391" cy="1005840"/>
            </a:xfrm>
            <a:custGeom>
              <a:avLst/>
              <a:gdLst/>
              <a:ahLst/>
              <a:cxnLst/>
              <a:rect l="l" t="t" r="r" b="b"/>
              <a:pathLst>
                <a:path w="15239391" h="1005840">
                  <a:moveTo>
                    <a:pt x="0" y="0"/>
                  </a:moveTo>
                  <a:lnTo>
                    <a:pt x="15239391" y="0"/>
                  </a:lnTo>
                  <a:lnTo>
                    <a:pt x="15239391" y="1005840"/>
                  </a:lnTo>
                  <a:lnTo>
                    <a:pt x="0" y="1005840"/>
                  </a:lnTo>
                  <a:close/>
                </a:path>
              </a:pathLst>
            </a:custGeom>
            <a:blipFill>
              <a:blip r:embed="rId4">
                <a:alphaModFix amt="0"/>
              </a:blip>
              <a:stretch>
                <a:fillRect t="-245216" b="-245216"/>
              </a:stretch>
            </a:blipFill>
          </p:spPr>
        </p:sp>
        <p:sp>
          <p:nvSpPr>
            <p:cNvPr id="10" name="TextBox 10"/>
            <p:cNvSpPr txBox="1"/>
            <p:nvPr/>
          </p:nvSpPr>
          <p:spPr>
            <a:xfrm>
              <a:off x="0" y="-19050"/>
              <a:ext cx="15239390" cy="1024890"/>
            </a:xfrm>
            <a:prstGeom prst="rect">
              <a:avLst/>
            </a:prstGeom>
          </p:spPr>
          <p:txBody>
            <a:bodyPr lIns="0" tIns="0" rIns="0" bIns="0" rtlCol="0" anchor="ctr"/>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id="11" name="Group 11"/>
          <p:cNvGrpSpPr/>
          <p:nvPr/>
        </p:nvGrpSpPr>
        <p:grpSpPr>
          <a:xfrm>
            <a:off x="16888511" y="9614916"/>
            <a:ext cx="685800" cy="593903"/>
            <a:chOff x="0" y="0"/>
            <a:chExt cx="914400" cy="791870"/>
          </a:xfrm>
        </p:grpSpPr>
        <p:sp>
          <p:nvSpPr>
            <p:cNvPr id="12" name="Freeform 1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13" name="Group 13"/>
          <p:cNvGrpSpPr/>
          <p:nvPr/>
        </p:nvGrpSpPr>
        <p:grpSpPr>
          <a:xfrm rot="5400000">
            <a:off x="15903559" y="7017544"/>
            <a:ext cx="2161927" cy="1875473"/>
            <a:chOff x="0" y="0"/>
            <a:chExt cx="2882570" cy="2500630"/>
          </a:xfrm>
        </p:grpSpPr>
        <p:sp>
          <p:nvSpPr>
            <p:cNvPr id="14" name="Freeform 14"/>
            <p:cNvSpPr/>
            <p:nvPr/>
          </p:nvSpPr>
          <p:spPr>
            <a:xfrm>
              <a:off x="0" y="0"/>
              <a:ext cx="2882519" cy="2500630"/>
            </a:xfrm>
            <a:custGeom>
              <a:avLst/>
              <a:gdLst/>
              <a:ahLst/>
              <a:cxnLst/>
              <a:rect l="l" t="t" r="r" b="b"/>
              <a:pathLst>
                <a:path w="2882519" h="2500630">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r="-61306"/>
              </a:stretch>
            </a:blipFill>
            <a:ln w="23812" cap="sq">
              <a:solidFill>
                <a:srgbClr val="4FA278"/>
              </a:solidFill>
              <a:prstDash val="solid"/>
              <a:miter/>
            </a:ln>
          </p:spPr>
        </p:sp>
      </p:grpSp>
      <p:grpSp>
        <p:nvGrpSpPr>
          <p:cNvPr id="15" name="Group 15"/>
          <p:cNvGrpSpPr/>
          <p:nvPr/>
        </p:nvGrpSpPr>
        <p:grpSpPr>
          <a:xfrm rot="5400000">
            <a:off x="14613988" y="8011954"/>
            <a:ext cx="1449219" cy="1258252"/>
            <a:chOff x="0" y="0"/>
            <a:chExt cx="1932292" cy="1677670"/>
          </a:xfrm>
        </p:grpSpPr>
        <p:sp>
          <p:nvSpPr>
            <p:cNvPr id="16" name="Freeform 16"/>
            <p:cNvSpPr/>
            <p:nvPr/>
          </p:nvSpPr>
          <p:spPr>
            <a:xfrm>
              <a:off x="0" y="0"/>
              <a:ext cx="1932178" cy="1677670"/>
            </a:xfrm>
            <a:custGeom>
              <a:avLst/>
              <a:gdLst/>
              <a:ahLst/>
              <a:cxnLst/>
              <a:rect l="l" t="t" r="r" b="b"/>
              <a:pathLst>
                <a:path w="1932178" h="1677670">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r="-61406"/>
              </a:stretch>
            </a:blipFill>
            <a:ln w="23812" cap="sq">
              <a:solidFill>
                <a:srgbClr val="4FA278"/>
              </a:solidFill>
              <a:prstDash val="solid"/>
              <a:miter/>
            </a:ln>
          </p:spPr>
        </p:sp>
      </p:grpSp>
      <p:grpSp>
        <p:nvGrpSpPr>
          <p:cNvPr id="17" name="Group 17"/>
          <p:cNvGrpSpPr/>
          <p:nvPr/>
        </p:nvGrpSpPr>
        <p:grpSpPr>
          <a:xfrm rot="5400000">
            <a:off x="17357188" y="5748814"/>
            <a:ext cx="1449219" cy="1258252"/>
            <a:chOff x="0" y="0"/>
            <a:chExt cx="1932292" cy="1677670"/>
          </a:xfrm>
        </p:grpSpPr>
        <p:sp>
          <p:nvSpPr>
            <p:cNvPr id="18" name="Freeform 18"/>
            <p:cNvSpPr/>
            <p:nvPr/>
          </p:nvSpPr>
          <p:spPr>
            <a:xfrm>
              <a:off x="0" y="0"/>
              <a:ext cx="1932178" cy="1677670"/>
            </a:xfrm>
            <a:custGeom>
              <a:avLst/>
              <a:gdLst/>
              <a:ahLst/>
              <a:cxnLst/>
              <a:rect l="l" t="t" r="r" b="b"/>
              <a:pathLst>
                <a:path w="1932178" h="1677670">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r="-61406"/>
              </a:stretch>
            </a:blipFill>
            <a:ln w="23812" cap="sq">
              <a:solidFill>
                <a:srgbClr val="4FA278"/>
              </a:solidFill>
              <a:prstDash val="solid"/>
              <a:miter/>
            </a:ln>
          </p:spPr>
        </p:sp>
      </p:grpSp>
      <p:grpSp>
        <p:nvGrpSpPr>
          <p:cNvPr id="19" name="Group 19"/>
          <p:cNvGrpSpPr/>
          <p:nvPr/>
        </p:nvGrpSpPr>
        <p:grpSpPr>
          <a:xfrm>
            <a:off x="4857521" y="-221300"/>
            <a:ext cx="11247120" cy="2637160"/>
            <a:chOff x="0" y="0"/>
            <a:chExt cx="14996160" cy="3516213"/>
          </a:xfrm>
        </p:grpSpPr>
        <p:sp>
          <p:nvSpPr>
            <p:cNvPr id="20" name="Freeform 20"/>
            <p:cNvSpPr/>
            <p:nvPr/>
          </p:nvSpPr>
          <p:spPr>
            <a:xfrm>
              <a:off x="0" y="0"/>
              <a:ext cx="14996161" cy="3516213"/>
            </a:xfrm>
            <a:custGeom>
              <a:avLst/>
              <a:gdLst/>
              <a:ahLst/>
              <a:cxnLst/>
              <a:rect l="l" t="t" r="r" b="b"/>
              <a:pathLst>
                <a:path w="14996161" h="3516213">
                  <a:moveTo>
                    <a:pt x="0" y="0"/>
                  </a:moveTo>
                  <a:lnTo>
                    <a:pt x="14996161" y="0"/>
                  </a:lnTo>
                  <a:lnTo>
                    <a:pt x="14996161" y="3516213"/>
                  </a:lnTo>
                  <a:lnTo>
                    <a:pt x="0" y="3516213"/>
                  </a:lnTo>
                  <a:close/>
                </a:path>
              </a:pathLst>
            </a:custGeom>
            <a:blipFill>
              <a:blip r:embed="rId4">
                <a:alphaModFix amt="0"/>
              </a:blip>
              <a:stretch>
                <a:fillRect t="-59696" b="-6505"/>
              </a:stretch>
            </a:blipFill>
          </p:spPr>
        </p:sp>
        <p:sp>
          <p:nvSpPr>
            <p:cNvPr id="21" name="TextBox 21"/>
            <p:cNvSpPr txBox="1"/>
            <p:nvPr/>
          </p:nvSpPr>
          <p:spPr>
            <a:xfrm>
              <a:off x="0" y="-19050"/>
              <a:ext cx="14996160" cy="3535263"/>
            </a:xfrm>
            <a:prstGeom prst="rect">
              <a:avLst/>
            </a:prstGeom>
          </p:spPr>
          <p:txBody>
            <a:bodyPr lIns="0" tIns="0" rIns="0" bIns="0" rtlCol="0" anchor="ctr"/>
            <a:lstStyle/>
            <a:p>
              <a:pPr algn="ctr">
                <a:lnSpc>
                  <a:spcPts val="4320"/>
                </a:lnSpc>
              </a:pPr>
              <a:r>
                <a:rPr lang="en-US" sz="3600" b="1" spc="150">
                  <a:solidFill>
                    <a:srgbClr val="052B35"/>
                  </a:solidFill>
                  <a:latin typeface="Cambria Bold"/>
                  <a:ea typeface="Cambria Bold"/>
                  <a:cs typeface="Cambria Bold"/>
                  <a:sym typeface="Cambria Bold"/>
                </a:rPr>
                <a:t>CURRENT SITUATION &amp; CONTEXT</a:t>
              </a:r>
            </a:p>
          </p:txBody>
        </p:sp>
      </p:grpSp>
      <p:grpSp>
        <p:nvGrpSpPr>
          <p:cNvPr id="22" name="Group 22"/>
          <p:cNvGrpSpPr/>
          <p:nvPr/>
        </p:nvGrpSpPr>
        <p:grpSpPr>
          <a:xfrm>
            <a:off x="678656" y="472916"/>
            <a:ext cx="3923347" cy="1248727"/>
            <a:chOff x="0" y="0"/>
            <a:chExt cx="5231130" cy="1664970"/>
          </a:xfrm>
        </p:grpSpPr>
        <p:sp>
          <p:nvSpPr>
            <p:cNvPr id="23" name="Freeform 23"/>
            <p:cNvSpPr/>
            <p:nvPr/>
          </p:nvSpPr>
          <p:spPr>
            <a:xfrm>
              <a:off x="0" y="0"/>
              <a:ext cx="5231130" cy="1664970"/>
            </a:xfrm>
            <a:custGeom>
              <a:avLst/>
              <a:gdLst/>
              <a:ahLst/>
              <a:cxnLst/>
              <a:rect l="l" t="t" r="r" b="b"/>
              <a:pathLst>
                <a:path w="5231130" h="166497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24" name="Group 24"/>
          <p:cNvGrpSpPr/>
          <p:nvPr/>
        </p:nvGrpSpPr>
        <p:grpSpPr>
          <a:xfrm>
            <a:off x="898112" y="678656"/>
            <a:ext cx="960692" cy="837248"/>
            <a:chOff x="0" y="0"/>
            <a:chExt cx="1280922" cy="1116330"/>
          </a:xfrm>
        </p:grpSpPr>
        <p:sp>
          <p:nvSpPr>
            <p:cNvPr id="25" name="Freeform 25"/>
            <p:cNvSpPr/>
            <p:nvPr/>
          </p:nvSpPr>
          <p:spPr>
            <a:xfrm>
              <a:off x="0" y="0"/>
              <a:ext cx="1280922" cy="1116330"/>
            </a:xfrm>
            <a:custGeom>
              <a:avLst/>
              <a:gdLst/>
              <a:ahLst/>
              <a:cxnLst/>
              <a:rect l="l" t="t" r="r" b="b"/>
              <a:pathLst>
                <a:path w="1280922" h="1116330">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id="26" name="Group 26"/>
          <p:cNvGrpSpPr/>
          <p:nvPr/>
        </p:nvGrpSpPr>
        <p:grpSpPr>
          <a:xfrm>
            <a:off x="1104138" y="822960"/>
            <a:ext cx="548640" cy="548640"/>
            <a:chOff x="0" y="0"/>
            <a:chExt cx="731520" cy="731520"/>
          </a:xfrm>
        </p:grpSpPr>
        <p:sp>
          <p:nvSpPr>
            <p:cNvPr id="27" name="Freeform 27" descr="Team icon"/>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5"/>
              <a:stretch>
                <a:fillRect/>
              </a:stretch>
            </a:blipFill>
          </p:spPr>
        </p:sp>
      </p:grpSp>
      <p:grpSp>
        <p:nvGrpSpPr>
          <p:cNvPr id="28" name="Group 28"/>
          <p:cNvGrpSpPr/>
          <p:nvPr/>
        </p:nvGrpSpPr>
        <p:grpSpPr>
          <a:xfrm>
            <a:off x="2057400" y="576072"/>
            <a:ext cx="2441448" cy="1042416"/>
            <a:chOff x="0" y="0"/>
            <a:chExt cx="3255264" cy="1389888"/>
          </a:xfrm>
        </p:grpSpPr>
        <p:sp>
          <p:nvSpPr>
            <p:cNvPr id="29" name="Freeform 29"/>
            <p:cNvSpPr/>
            <p:nvPr/>
          </p:nvSpPr>
          <p:spPr>
            <a:xfrm>
              <a:off x="0" y="0"/>
              <a:ext cx="3255264" cy="1389888"/>
            </a:xfrm>
            <a:custGeom>
              <a:avLst/>
              <a:gdLst/>
              <a:ahLst/>
              <a:cxnLst/>
              <a:rect l="l" t="t" r="r" b="b"/>
              <a:pathLst>
                <a:path w="3255264" h="1389888">
                  <a:moveTo>
                    <a:pt x="0" y="0"/>
                  </a:moveTo>
                  <a:lnTo>
                    <a:pt x="3255264" y="0"/>
                  </a:lnTo>
                  <a:lnTo>
                    <a:pt x="3255264" y="1389888"/>
                  </a:lnTo>
                  <a:lnTo>
                    <a:pt x="0" y="1389888"/>
                  </a:lnTo>
                  <a:close/>
                </a:path>
              </a:pathLst>
            </a:custGeom>
            <a:blipFill>
              <a:blip r:embed="rId4">
                <a:alphaModFix amt="0"/>
              </a:blip>
              <a:stretch>
                <a:fillRect l="-4781" r="-4781"/>
              </a:stretch>
            </a:blipFill>
          </p:spPr>
        </p:sp>
        <p:sp>
          <p:nvSpPr>
            <p:cNvPr id="30" name="TextBox 30"/>
            <p:cNvSpPr txBox="1"/>
            <p:nvPr/>
          </p:nvSpPr>
          <p:spPr>
            <a:xfrm>
              <a:off x="0" y="-28575"/>
              <a:ext cx="3255264" cy="1418463"/>
            </a:xfrm>
            <a:prstGeom prst="rect">
              <a:avLst/>
            </a:prstGeom>
          </p:spPr>
          <p:txBody>
            <a:bodyPr lIns="0" tIns="0" rIns="0" bIns="0" rtlCol="0" anchor="ctr"/>
            <a:lstStyle/>
            <a:p>
              <a:pPr algn="l">
                <a:lnSpc>
                  <a:spcPts val="1620"/>
                </a:lnSpc>
              </a:pPr>
              <a:r>
                <a:rPr lang="en-US" sz="1350" b="1" spc="449">
                  <a:solidFill>
                    <a:srgbClr val="5B6F6B"/>
                  </a:solidFill>
                  <a:latin typeface="Calibri (MS) Bold"/>
                  <a:ea typeface="Calibri (MS) Bold"/>
                  <a:cs typeface="Calibri (MS) Bold"/>
                  <a:sym typeface="Calibri (MS) Bold"/>
                </a:rPr>
                <a:t>TEAM</a:t>
              </a:r>
            </a:p>
            <a:p>
              <a:pPr algn="l">
                <a:lnSpc>
                  <a:spcPts val="2700"/>
                </a:lnSpc>
              </a:pPr>
              <a:r>
                <a:rPr lang="en-US" sz="2250" b="1" spc="749">
                  <a:solidFill>
                    <a:srgbClr val="026855"/>
                  </a:solidFill>
                  <a:latin typeface="Calibri (MS) Bold"/>
                  <a:ea typeface="Calibri (MS) Bold"/>
                  <a:cs typeface="Calibri (MS) Bold"/>
                  <a:sym typeface="Calibri (MS) Bold"/>
                </a:rPr>
                <a:t>AURA </a:t>
              </a:r>
            </a:p>
          </p:txBody>
        </p:sp>
      </p:grpSp>
      <p:grpSp>
        <p:nvGrpSpPr>
          <p:cNvPr id="31" name="Group 31"/>
          <p:cNvGrpSpPr/>
          <p:nvPr/>
        </p:nvGrpSpPr>
        <p:grpSpPr>
          <a:xfrm>
            <a:off x="822960" y="2194560"/>
            <a:ext cx="685800" cy="593903"/>
            <a:chOff x="0" y="0"/>
            <a:chExt cx="914400" cy="791870"/>
          </a:xfrm>
        </p:grpSpPr>
        <p:sp>
          <p:nvSpPr>
            <p:cNvPr id="32" name="Freeform 3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33" name="Group 33"/>
          <p:cNvGrpSpPr/>
          <p:nvPr/>
        </p:nvGrpSpPr>
        <p:grpSpPr>
          <a:xfrm>
            <a:off x="960120" y="2285086"/>
            <a:ext cx="411480" cy="411480"/>
            <a:chOff x="0" y="0"/>
            <a:chExt cx="548640" cy="548640"/>
          </a:xfrm>
        </p:grpSpPr>
        <p:sp>
          <p:nvSpPr>
            <p:cNvPr id="34" name="Freeform 34" descr="Lightbulb icon"/>
            <p:cNvSpPr/>
            <p:nvPr/>
          </p:nvSpPr>
          <p:spPr>
            <a:xfrm>
              <a:off x="0" y="0"/>
              <a:ext cx="548640" cy="548640"/>
            </a:xfrm>
            <a:custGeom>
              <a:avLst/>
              <a:gdLst/>
              <a:ahLst/>
              <a:cxnLst/>
              <a:rect l="l" t="t" r="r" b="b"/>
              <a:pathLst>
                <a:path w="548640" h="548640">
                  <a:moveTo>
                    <a:pt x="0" y="0"/>
                  </a:moveTo>
                  <a:lnTo>
                    <a:pt x="548640" y="0"/>
                  </a:lnTo>
                  <a:lnTo>
                    <a:pt x="548640" y="548640"/>
                  </a:lnTo>
                  <a:lnTo>
                    <a:pt x="0" y="548640"/>
                  </a:lnTo>
                  <a:lnTo>
                    <a:pt x="0" y="0"/>
                  </a:lnTo>
                  <a:close/>
                </a:path>
              </a:pathLst>
            </a:custGeom>
            <a:blipFill>
              <a:blip r:embed="rId6"/>
              <a:stretch>
                <a:fillRect/>
              </a:stretch>
            </a:blipFill>
          </p:spPr>
        </p:sp>
      </p:grpSp>
      <p:grpSp>
        <p:nvGrpSpPr>
          <p:cNvPr id="35" name="Group 35"/>
          <p:cNvGrpSpPr/>
          <p:nvPr/>
        </p:nvGrpSpPr>
        <p:grpSpPr>
          <a:xfrm>
            <a:off x="1755648" y="2125980"/>
            <a:ext cx="14401800" cy="754380"/>
            <a:chOff x="0" y="0"/>
            <a:chExt cx="19202400" cy="1005840"/>
          </a:xfrm>
        </p:grpSpPr>
        <p:sp>
          <p:nvSpPr>
            <p:cNvPr id="36" name="Freeform 36"/>
            <p:cNvSpPr/>
            <p:nvPr/>
          </p:nvSpPr>
          <p:spPr>
            <a:xfrm>
              <a:off x="0" y="0"/>
              <a:ext cx="19202400" cy="1005840"/>
            </a:xfrm>
            <a:custGeom>
              <a:avLst/>
              <a:gdLst/>
              <a:ahLst/>
              <a:cxnLst/>
              <a:rect l="l" t="t" r="r" b="b"/>
              <a:pathLst>
                <a:path w="19202400" h="1005840">
                  <a:moveTo>
                    <a:pt x="0" y="0"/>
                  </a:moveTo>
                  <a:lnTo>
                    <a:pt x="19202400" y="0"/>
                  </a:lnTo>
                  <a:lnTo>
                    <a:pt x="19202400" y="1005840"/>
                  </a:lnTo>
                  <a:lnTo>
                    <a:pt x="0" y="1005840"/>
                  </a:lnTo>
                  <a:close/>
                </a:path>
              </a:pathLst>
            </a:custGeom>
            <a:blipFill>
              <a:blip r:embed="rId4">
                <a:alphaModFix amt="0"/>
              </a:blip>
              <a:stretch>
                <a:fillRect t="-321987" b="-321987"/>
              </a:stretch>
            </a:blipFill>
          </p:spPr>
        </p:sp>
        <p:sp>
          <p:nvSpPr>
            <p:cNvPr id="37" name="TextBox 37"/>
            <p:cNvSpPr txBox="1"/>
            <p:nvPr/>
          </p:nvSpPr>
          <p:spPr>
            <a:xfrm>
              <a:off x="0" y="-57150"/>
              <a:ext cx="19202400" cy="1062990"/>
            </a:xfrm>
            <a:prstGeom prst="rect">
              <a:avLst/>
            </a:prstGeom>
          </p:spPr>
          <p:txBody>
            <a:bodyPr lIns="0" tIns="0" rIns="0" bIns="0" rtlCol="0" anchor="ctr"/>
            <a:lstStyle/>
            <a:p>
              <a:pPr algn="l">
                <a:lnSpc>
                  <a:spcPts val="3240"/>
                </a:lnSpc>
              </a:pPr>
              <a:r>
                <a:rPr lang="en-US" sz="2700" b="1">
                  <a:solidFill>
                    <a:srgbClr val="094542"/>
                  </a:solidFill>
                  <a:latin typeface="Calibri (MS) Bold"/>
                  <a:ea typeface="Calibri (MS) Bold"/>
                  <a:cs typeface="Calibri (MS) Bold"/>
                  <a:sym typeface="Calibri (MS) Bold"/>
                </a:rPr>
                <a:t>Existing scenario, background and how things work today</a:t>
              </a:r>
            </a:p>
          </p:txBody>
        </p:sp>
      </p:grpSp>
      <p:sp>
        <p:nvSpPr>
          <p:cNvPr id="38" name="TextBox 38"/>
          <p:cNvSpPr txBox="1"/>
          <p:nvPr/>
        </p:nvSpPr>
        <p:spPr>
          <a:xfrm>
            <a:off x="1595171" y="2849880"/>
            <a:ext cx="15636240" cy="5791200"/>
          </a:xfrm>
          <a:prstGeom prst="rect">
            <a:avLst/>
          </a:prstGeom>
        </p:spPr>
        <p:txBody>
          <a:bodyPr lIns="0" tIns="0" rIns="0" bIns="0" rtlCol="0" anchor="t">
            <a:spAutoFit/>
          </a:bodyPr>
          <a:lstStyle/>
          <a:p>
            <a:pPr algn="l">
              <a:lnSpc>
                <a:spcPts val="3240"/>
              </a:lnSpc>
            </a:pPr>
            <a:r>
              <a:rPr lang="en-US" sz="2700" b="1">
                <a:solidFill>
                  <a:srgbClr val="0E2A2F"/>
                </a:solidFill>
                <a:latin typeface="Calibri (MS) Bold"/>
                <a:ea typeface="Calibri (MS) Bold"/>
                <a:cs typeface="Calibri (MS) Bold"/>
                <a:sym typeface="Calibri (MS) Bold"/>
              </a:rPr>
              <a:t>Existing Scenario</a:t>
            </a:r>
          </a:p>
          <a:p>
            <a:pPr marL="582930" lvl="1" indent="-291465" algn="l">
              <a:lnSpc>
                <a:spcPts val="3240"/>
              </a:lnSpc>
              <a:buFont typeface="Arial"/>
              <a:buChar char="•"/>
            </a:pPr>
            <a:r>
              <a:rPr lang="en-US" sz="2700">
                <a:solidFill>
                  <a:srgbClr val="0E2A2F"/>
                </a:solidFill>
                <a:latin typeface="Calibri (MS)"/>
                <a:ea typeface="Calibri (MS)"/>
                <a:cs typeface="Calibri (MS)"/>
                <a:sym typeface="Calibri (MS)"/>
              </a:rPr>
              <a:t>Healthcare uses medical history, symptoms, and diagnostic tests to identify diseases.</a:t>
            </a:r>
          </a:p>
          <a:p>
            <a:pPr marL="582930" lvl="1" indent="-291465" algn="l">
              <a:lnSpc>
                <a:spcPts val="3240"/>
              </a:lnSpc>
              <a:buFont typeface="Arial"/>
              <a:buChar char="•"/>
            </a:pPr>
            <a:r>
              <a:rPr lang="en-US" sz="2700">
                <a:solidFill>
                  <a:srgbClr val="0E2A2F"/>
                </a:solidFill>
                <a:latin typeface="Calibri (MS)"/>
                <a:ea typeface="Calibri (MS)"/>
                <a:cs typeface="Calibri (MS)"/>
                <a:sym typeface="Calibri (MS)"/>
              </a:rPr>
              <a:t>DNA sequencing helps detect genetic variations linked to diseases and drug responses.</a:t>
            </a:r>
          </a:p>
          <a:p>
            <a:pPr marL="582930" lvl="1" indent="-291465" algn="l">
              <a:lnSpc>
                <a:spcPts val="3240"/>
              </a:lnSpc>
              <a:buFont typeface="Arial"/>
              <a:buChar char="•"/>
            </a:pPr>
            <a:r>
              <a:rPr lang="en-US" sz="2700">
                <a:solidFill>
                  <a:srgbClr val="0E2A2F"/>
                </a:solidFill>
                <a:latin typeface="Calibri (MS)"/>
                <a:ea typeface="Calibri (MS)"/>
                <a:cs typeface="Calibri (MS)"/>
                <a:sym typeface="Calibri (MS)"/>
              </a:rPr>
              <a:t>AI can analyze genetic data to support early risk prediction and personalized treatment.</a:t>
            </a:r>
          </a:p>
          <a:p>
            <a:pPr algn="l">
              <a:lnSpc>
                <a:spcPts val="3240"/>
              </a:lnSpc>
            </a:pPr>
            <a:r>
              <a:rPr lang="en-US" sz="2700" b="1">
                <a:solidFill>
                  <a:srgbClr val="0E2A2F"/>
                </a:solidFill>
                <a:latin typeface="Calibri (MS) Bold"/>
                <a:ea typeface="Calibri (MS) Bold"/>
                <a:cs typeface="Calibri (MS) Bold"/>
                <a:sym typeface="Calibri (MS) Bold"/>
              </a:rPr>
              <a:t>Relevant Facts</a:t>
            </a:r>
          </a:p>
          <a:p>
            <a:pPr marL="582930" lvl="1" indent="-291465" algn="l">
              <a:lnSpc>
                <a:spcPts val="3240"/>
              </a:lnSpc>
              <a:buFont typeface="Arial"/>
              <a:buChar char="•"/>
            </a:pPr>
            <a:r>
              <a:rPr lang="en-US" sz="2700">
                <a:solidFill>
                  <a:srgbClr val="0E2A2F"/>
                </a:solidFill>
                <a:latin typeface="Calibri (MS)"/>
                <a:ea typeface="Calibri (MS)"/>
                <a:cs typeface="Calibri (MS)"/>
                <a:sym typeface="Calibri (MS)"/>
              </a:rPr>
              <a:t>Genetic variations can influence disease risk and medicine effectiveness.</a:t>
            </a:r>
          </a:p>
          <a:p>
            <a:pPr marL="582930" lvl="1" indent="-291465" algn="l">
              <a:lnSpc>
                <a:spcPts val="3240"/>
              </a:lnSpc>
              <a:buFont typeface="Arial"/>
              <a:buChar char="•"/>
            </a:pPr>
            <a:r>
              <a:rPr lang="en-US" sz="2700">
                <a:solidFill>
                  <a:srgbClr val="0E2A2F"/>
                </a:solidFill>
                <a:latin typeface="Calibri (MS)"/>
                <a:ea typeface="Calibri (MS)"/>
                <a:cs typeface="Calibri (MS)"/>
                <a:sym typeface="Calibri (MS)"/>
              </a:rPr>
              <a:t>AI can identify patterns in DNA sequences to support precision medicine.</a:t>
            </a:r>
          </a:p>
          <a:p>
            <a:pPr algn="l">
              <a:lnSpc>
                <a:spcPts val="3240"/>
              </a:lnSpc>
            </a:pPr>
            <a:r>
              <a:rPr lang="en-US" sz="2700" b="1">
                <a:solidFill>
                  <a:srgbClr val="0E2A2F"/>
                </a:solidFill>
                <a:latin typeface="Calibri (MS) Bold"/>
                <a:ea typeface="Calibri (MS) Bold"/>
                <a:cs typeface="Calibri (MS) Bold"/>
                <a:sym typeface="Calibri (MS) Bold"/>
              </a:rPr>
              <a:t>Current Workflow</a:t>
            </a:r>
          </a:p>
          <a:p>
            <a:pPr marL="582930" lvl="1" indent="-291465" algn="l">
              <a:lnSpc>
                <a:spcPts val="3240"/>
              </a:lnSpc>
              <a:buFont typeface="Arial"/>
              <a:buChar char="•"/>
            </a:pPr>
            <a:r>
              <a:rPr lang="en-US" sz="2700">
                <a:solidFill>
                  <a:srgbClr val="0E2A2F"/>
                </a:solidFill>
                <a:latin typeface="Calibri (MS)"/>
                <a:ea typeface="Calibri (MS)"/>
                <a:cs typeface="Calibri (MS)"/>
                <a:sym typeface="Calibri (MS)"/>
              </a:rPr>
              <a:t>Collect patient health data.</a:t>
            </a:r>
          </a:p>
          <a:p>
            <a:pPr marL="582930" lvl="1" indent="-291465" algn="l">
              <a:lnSpc>
                <a:spcPts val="3240"/>
              </a:lnSpc>
              <a:buFont typeface="Arial"/>
              <a:buChar char="•"/>
            </a:pPr>
            <a:r>
              <a:rPr lang="en-US" sz="2700">
                <a:solidFill>
                  <a:srgbClr val="0E2A2F"/>
                </a:solidFill>
                <a:latin typeface="Calibri (MS)"/>
                <a:ea typeface="Calibri (MS)"/>
                <a:cs typeface="Calibri (MS)"/>
                <a:sym typeface="Calibri (MS)"/>
              </a:rPr>
              <a:t>Perform DNA sequencing.</a:t>
            </a:r>
          </a:p>
          <a:p>
            <a:pPr marL="582930" lvl="1" indent="-291465" algn="l">
              <a:lnSpc>
                <a:spcPts val="3240"/>
              </a:lnSpc>
              <a:buFont typeface="Arial"/>
              <a:buChar char="•"/>
            </a:pPr>
            <a:r>
              <a:rPr lang="en-US" sz="2700">
                <a:solidFill>
                  <a:srgbClr val="0E2A2F"/>
                </a:solidFill>
                <a:latin typeface="Calibri (MS)"/>
                <a:ea typeface="Calibri (MS)"/>
                <a:cs typeface="Calibri (MS)"/>
                <a:sym typeface="Calibri (MS)"/>
              </a:rPr>
              <a:t>Analyze genetic variations.</a:t>
            </a:r>
          </a:p>
          <a:p>
            <a:pPr marL="582930" lvl="1" indent="-291465" algn="l">
              <a:lnSpc>
                <a:spcPts val="3240"/>
              </a:lnSpc>
              <a:buFont typeface="Arial"/>
              <a:buChar char="•"/>
            </a:pPr>
            <a:r>
              <a:rPr lang="en-US" sz="2700">
                <a:solidFill>
                  <a:srgbClr val="0E2A2F"/>
                </a:solidFill>
                <a:latin typeface="Calibri (MS)"/>
                <a:ea typeface="Calibri (MS)"/>
                <a:cs typeface="Calibri (MS)"/>
                <a:sym typeface="Calibri (MS)"/>
              </a:rPr>
              <a:t>Predict potential disease risks.</a:t>
            </a:r>
          </a:p>
          <a:p>
            <a:pPr marL="582930" lvl="1" indent="-291465" algn="l">
              <a:lnSpc>
                <a:spcPts val="3240"/>
              </a:lnSpc>
              <a:buFont typeface="Arial"/>
              <a:buChar char="•"/>
            </a:pPr>
            <a:r>
              <a:rPr lang="en-US" sz="2700">
                <a:solidFill>
                  <a:srgbClr val="0E2A2F"/>
                </a:solidFill>
                <a:latin typeface="Calibri (MS)"/>
                <a:ea typeface="Calibri (MS)"/>
                <a:cs typeface="Calibri (MS)"/>
                <a:sym typeface="Calibri (MS)"/>
              </a:rPr>
              <a:t>Help doctors select personalized treatments.</a:t>
            </a:r>
          </a:p>
          <a:p>
            <a:pPr algn="l">
              <a:lnSpc>
                <a:spcPts val="3240"/>
              </a:lnSpc>
            </a:pPr>
            <a:endParaRPr lang="en-US" sz="2700">
              <a:solidFill>
                <a:srgbClr val="0E2A2F"/>
              </a:solidFill>
              <a:latin typeface="Calibri (MS)"/>
              <a:ea typeface="Calibri (MS)"/>
              <a:cs typeface="Calibri (MS)"/>
              <a:sym typeface="Calibri (MS)"/>
            </a:endParaRPr>
          </a:p>
        </p:txBody>
      </p:sp>
      <p:grpSp>
        <p:nvGrpSpPr>
          <p:cNvPr id="39" name="Group 39"/>
          <p:cNvGrpSpPr/>
          <p:nvPr/>
        </p:nvGrpSpPr>
        <p:grpSpPr>
          <a:xfrm>
            <a:off x="16888511" y="9614916"/>
            <a:ext cx="685800" cy="593903"/>
            <a:chOff x="0" y="0"/>
            <a:chExt cx="914400" cy="791870"/>
          </a:xfrm>
        </p:grpSpPr>
        <p:sp>
          <p:nvSpPr>
            <p:cNvPr id="40" name="Freeform 40"/>
            <p:cNvSpPr/>
            <p:nvPr/>
          </p:nvSpPr>
          <p:spPr>
            <a:xfrm>
              <a:off x="0" y="0"/>
              <a:ext cx="914400" cy="791870"/>
            </a:xfrm>
            <a:custGeom>
              <a:avLst/>
              <a:gdLst/>
              <a:ahLst/>
              <a:cxnLst/>
              <a:rect l="l" t="t" r="r" b="b"/>
              <a:pathLst>
                <a:path w="914400" h="791870">
                  <a:moveTo>
                    <a:pt x="0" y="0"/>
                  </a:moveTo>
                  <a:lnTo>
                    <a:pt x="914400" y="0"/>
                  </a:lnTo>
                  <a:lnTo>
                    <a:pt x="914400" y="791870"/>
                  </a:lnTo>
                  <a:lnTo>
                    <a:pt x="0" y="791870"/>
                  </a:lnTo>
                  <a:close/>
                </a:path>
              </a:pathLst>
            </a:custGeom>
            <a:blipFill>
              <a:blip r:embed="rId4">
                <a:alphaModFix amt="0"/>
              </a:blip>
              <a:stretch>
                <a:fillRect l="-61110" r="-61110"/>
              </a:stretch>
            </a:blipFill>
          </p:spPr>
        </p:sp>
        <p:sp>
          <p:nvSpPr>
            <p:cNvPr id="41" name="TextBox 41"/>
            <p:cNvSpPr txBox="1"/>
            <p:nvPr/>
          </p:nvSpPr>
          <p:spPr>
            <a:xfrm>
              <a:off x="0" y="-28575"/>
              <a:ext cx="914400" cy="820445"/>
            </a:xfrm>
            <a:prstGeom prst="rect">
              <a:avLst/>
            </a:prstGeom>
          </p:spPr>
          <p:txBody>
            <a:bodyPr lIns="0" tIns="0" rIns="0" bIns="0" rtlCol="0" anchor="ctr"/>
            <a:lstStyle/>
            <a:p>
              <a:pPr algn="ctr">
                <a:lnSpc>
                  <a:spcPts val="1980"/>
                </a:lnSpc>
              </a:pPr>
              <a:r>
                <a:rPr lang="en-US" sz="1650" b="1">
                  <a:solidFill>
                    <a:srgbClr val="052B35"/>
                  </a:solidFill>
                  <a:latin typeface="Calibri (MS) Bold"/>
                  <a:ea typeface="Calibri (MS) Bold"/>
                  <a:cs typeface="Calibri (MS) Bold"/>
                  <a:sym typeface="Calibri (MS) Bold"/>
                </a:rPr>
                <a:t>4</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8F5"/>
        </a:solidFill>
        <a:effectLst/>
      </p:bgPr>
    </p:bg>
    <p:spTree>
      <p:nvGrpSpPr>
        <p:cNvPr id="1" name=""/>
        <p:cNvGrpSpPr/>
        <p:nvPr/>
      </p:nvGrpSpPr>
      <p:grpSpPr>
        <a:xfrm>
          <a:off x="0" y="0"/>
          <a:ext cx="0" cy="0"/>
          <a:chOff x="0" y="0"/>
          <a:chExt cx="0" cy="0"/>
        </a:xfrm>
      </p:grpSpPr>
      <p:grpSp>
        <p:nvGrpSpPr>
          <p:cNvPr id="2" name="Group 2"/>
          <p:cNvGrpSpPr/>
          <p:nvPr/>
        </p:nvGrpSpPr>
        <p:grpSpPr>
          <a:xfrm>
            <a:off x="16360159" y="472916"/>
            <a:ext cx="1248727" cy="1248727"/>
            <a:chOff x="0" y="0"/>
            <a:chExt cx="1664970" cy="1664970"/>
          </a:xfrm>
        </p:grpSpPr>
        <p:sp>
          <p:nvSpPr>
            <p:cNvPr id="3" name="Freeform 3"/>
            <p:cNvSpPr/>
            <p:nvPr/>
          </p:nvSpPr>
          <p:spPr>
            <a:xfrm>
              <a:off x="0" y="0"/>
              <a:ext cx="1664970" cy="1664970"/>
            </a:xfrm>
            <a:custGeom>
              <a:avLst/>
              <a:gdLst/>
              <a:ahLst/>
              <a:cxnLst/>
              <a:rect l="l" t="t" r="r" b="b"/>
              <a:pathLst>
                <a:path w="1664970" h="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4" name="Group 4"/>
          <p:cNvGrpSpPr/>
          <p:nvPr/>
        </p:nvGrpSpPr>
        <p:grpSpPr>
          <a:xfrm>
            <a:off x="16583920" y="576072"/>
            <a:ext cx="801195" cy="1042416"/>
            <a:chOff x="0" y="0"/>
            <a:chExt cx="1068260" cy="1389888"/>
          </a:xfrm>
        </p:grpSpPr>
        <p:sp>
          <p:nvSpPr>
            <p:cNvPr id="5" name="Freeform 5" descr="Genesis logo"/>
            <p:cNvSpPr/>
            <p:nvPr/>
          </p:nvSpPr>
          <p:spPr>
            <a:xfrm>
              <a:off x="0" y="0"/>
              <a:ext cx="1068324" cy="1389888"/>
            </a:xfrm>
            <a:custGeom>
              <a:avLst/>
              <a:gdLst/>
              <a:ahLst/>
              <a:cxnLst/>
              <a:rect l="l" t="t" r="r" b="b"/>
              <a:pathLst>
                <a:path w="1068324" h="1389888">
                  <a:moveTo>
                    <a:pt x="0" y="0"/>
                  </a:moveTo>
                  <a:lnTo>
                    <a:pt x="1068324" y="0"/>
                  </a:lnTo>
                  <a:lnTo>
                    <a:pt x="1068324" y="1389888"/>
                  </a:lnTo>
                  <a:lnTo>
                    <a:pt x="0" y="1389888"/>
                  </a:lnTo>
                  <a:lnTo>
                    <a:pt x="0" y="0"/>
                  </a:lnTo>
                  <a:close/>
                </a:path>
              </a:pathLst>
            </a:custGeom>
            <a:blipFill>
              <a:blip r:embed="rId3"/>
              <a:stretch>
                <a:fillRect r="5"/>
              </a:stretch>
            </a:blipFill>
          </p:spPr>
        </p:sp>
      </p:grpSp>
      <p:grpSp>
        <p:nvGrpSpPr>
          <p:cNvPr id="6" name="Group 6"/>
          <p:cNvGrpSpPr/>
          <p:nvPr/>
        </p:nvGrpSpPr>
        <p:grpSpPr>
          <a:xfrm>
            <a:off x="0" y="9532620"/>
            <a:ext cx="18287543" cy="754380"/>
            <a:chOff x="0" y="0"/>
            <a:chExt cx="24383390" cy="1005840"/>
          </a:xfrm>
        </p:grpSpPr>
        <p:sp>
          <p:nvSpPr>
            <p:cNvPr id="7" name="Freeform 7"/>
            <p:cNvSpPr/>
            <p:nvPr/>
          </p:nvSpPr>
          <p:spPr>
            <a:xfrm>
              <a:off x="0" y="0"/>
              <a:ext cx="24383364" cy="1005840"/>
            </a:xfrm>
            <a:custGeom>
              <a:avLst/>
              <a:gdLst/>
              <a:ahLst/>
              <a:cxnLst/>
              <a:rect l="l" t="t" r="r" b="b"/>
              <a:pathLst>
                <a:path w="24383364" h="1005840">
                  <a:moveTo>
                    <a:pt x="0" y="0"/>
                  </a:moveTo>
                  <a:lnTo>
                    <a:pt x="24383364" y="0"/>
                  </a:lnTo>
                  <a:lnTo>
                    <a:pt x="24383364" y="1005840"/>
                  </a:lnTo>
                  <a:lnTo>
                    <a:pt x="0" y="1005840"/>
                  </a:lnTo>
                  <a:close/>
                </a:path>
              </a:pathLst>
            </a:custGeom>
            <a:solidFill>
              <a:srgbClr val="052B35"/>
            </a:solidFill>
          </p:spPr>
        </p:sp>
      </p:grpSp>
      <p:grpSp>
        <p:nvGrpSpPr>
          <p:cNvPr id="8" name="Group 8"/>
          <p:cNvGrpSpPr/>
          <p:nvPr/>
        </p:nvGrpSpPr>
        <p:grpSpPr>
          <a:xfrm>
            <a:off x="3429000" y="9532620"/>
            <a:ext cx="11429543" cy="754380"/>
            <a:chOff x="0" y="0"/>
            <a:chExt cx="15239390" cy="1005840"/>
          </a:xfrm>
        </p:grpSpPr>
        <p:sp>
          <p:nvSpPr>
            <p:cNvPr id="9" name="Freeform 9"/>
            <p:cNvSpPr/>
            <p:nvPr/>
          </p:nvSpPr>
          <p:spPr>
            <a:xfrm>
              <a:off x="0" y="0"/>
              <a:ext cx="15239391" cy="1005840"/>
            </a:xfrm>
            <a:custGeom>
              <a:avLst/>
              <a:gdLst/>
              <a:ahLst/>
              <a:cxnLst/>
              <a:rect l="l" t="t" r="r" b="b"/>
              <a:pathLst>
                <a:path w="15239391" h="1005840">
                  <a:moveTo>
                    <a:pt x="0" y="0"/>
                  </a:moveTo>
                  <a:lnTo>
                    <a:pt x="15239391" y="0"/>
                  </a:lnTo>
                  <a:lnTo>
                    <a:pt x="15239391" y="1005840"/>
                  </a:lnTo>
                  <a:lnTo>
                    <a:pt x="0" y="1005840"/>
                  </a:lnTo>
                  <a:close/>
                </a:path>
              </a:pathLst>
            </a:custGeom>
            <a:blipFill>
              <a:blip r:embed="rId4">
                <a:alphaModFix amt="0"/>
              </a:blip>
              <a:stretch>
                <a:fillRect t="-245216" b="-245216"/>
              </a:stretch>
            </a:blipFill>
          </p:spPr>
        </p:sp>
        <p:sp>
          <p:nvSpPr>
            <p:cNvPr id="10" name="TextBox 10"/>
            <p:cNvSpPr txBox="1"/>
            <p:nvPr/>
          </p:nvSpPr>
          <p:spPr>
            <a:xfrm>
              <a:off x="0" y="-19050"/>
              <a:ext cx="15239390" cy="1024890"/>
            </a:xfrm>
            <a:prstGeom prst="rect">
              <a:avLst/>
            </a:prstGeom>
          </p:spPr>
          <p:txBody>
            <a:bodyPr lIns="0" tIns="0" rIns="0" bIns="0" rtlCol="0" anchor="ctr"/>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id="11" name="Group 11"/>
          <p:cNvGrpSpPr/>
          <p:nvPr/>
        </p:nvGrpSpPr>
        <p:grpSpPr>
          <a:xfrm>
            <a:off x="16888511" y="9614916"/>
            <a:ext cx="685800" cy="593903"/>
            <a:chOff x="0" y="0"/>
            <a:chExt cx="914400" cy="791870"/>
          </a:xfrm>
        </p:grpSpPr>
        <p:sp>
          <p:nvSpPr>
            <p:cNvPr id="12" name="Freeform 1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13" name="Group 13"/>
          <p:cNvGrpSpPr/>
          <p:nvPr/>
        </p:nvGrpSpPr>
        <p:grpSpPr>
          <a:xfrm rot="5400000">
            <a:off x="15903559" y="7017544"/>
            <a:ext cx="2161927" cy="1875473"/>
            <a:chOff x="0" y="0"/>
            <a:chExt cx="2882570" cy="2500630"/>
          </a:xfrm>
        </p:grpSpPr>
        <p:sp>
          <p:nvSpPr>
            <p:cNvPr id="14" name="Freeform 14"/>
            <p:cNvSpPr/>
            <p:nvPr/>
          </p:nvSpPr>
          <p:spPr>
            <a:xfrm>
              <a:off x="0" y="0"/>
              <a:ext cx="2882519" cy="2500630"/>
            </a:xfrm>
            <a:custGeom>
              <a:avLst/>
              <a:gdLst/>
              <a:ahLst/>
              <a:cxnLst/>
              <a:rect l="l" t="t" r="r" b="b"/>
              <a:pathLst>
                <a:path w="2882519" h="2500630">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r="-61306"/>
              </a:stretch>
            </a:blipFill>
            <a:ln w="23812" cap="sq">
              <a:solidFill>
                <a:srgbClr val="4FA278"/>
              </a:solidFill>
              <a:prstDash val="solid"/>
              <a:miter/>
            </a:ln>
          </p:spPr>
        </p:sp>
      </p:grpSp>
      <p:grpSp>
        <p:nvGrpSpPr>
          <p:cNvPr id="15" name="Group 15"/>
          <p:cNvGrpSpPr/>
          <p:nvPr/>
        </p:nvGrpSpPr>
        <p:grpSpPr>
          <a:xfrm rot="5400000">
            <a:off x="14613988" y="8011954"/>
            <a:ext cx="1449219" cy="1258252"/>
            <a:chOff x="0" y="0"/>
            <a:chExt cx="1932292" cy="1677670"/>
          </a:xfrm>
        </p:grpSpPr>
        <p:sp>
          <p:nvSpPr>
            <p:cNvPr id="16" name="Freeform 16"/>
            <p:cNvSpPr/>
            <p:nvPr/>
          </p:nvSpPr>
          <p:spPr>
            <a:xfrm>
              <a:off x="0" y="0"/>
              <a:ext cx="1932178" cy="1677670"/>
            </a:xfrm>
            <a:custGeom>
              <a:avLst/>
              <a:gdLst/>
              <a:ahLst/>
              <a:cxnLst/>
              <a:rect l="l" t="t" r="r" b="b"/>
              <a:pathLst>
                <a:path w="1932178" h="1677670">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r="-61406"/>
              </a:stretch>
            </a:blipFill>
            <a:ln w="23812" cap="sq">
              <a:solidFill>
                <a:srgbClr val="4FA278"/>
              </a:solidFill>
              <a:prstDash val="solid"/>
              <a:miter/>
            </a:ln>
          </p:spPr>
        </p:sp>
      </p:grpSp>
      <p:grpSp>
        <p:nvGrpSpPr>
          <p:cNvPr id="17" name="Group 17"/>
          <p:cNvGrpSpPr/>
          <p:nvPr/>
        </p:nvGrpSpPr>
        <p:grpSpPr>
          <a:xfrm rot="5400000">
            <a:off x="17357188" y="5748814"/>
            <a:ext cx="1449219" cy="1258252"/>
            <a:chOff x="0" y="0"/>
            <a:chExt cx="1932292" cy="1677670"/>
          </a:xfrm>
        </p:grpSpPr>
        <p:sp>
          <p:nvSpPr>
            <p:cNvPr id="18" name="Freeform 18"/>
            <p:cNvSpPr/>
            <p:nvPr/>
          </p:nvSpPr>
          <p:spPr>
            <a:xfrm>
              <a:off x="0" y="0"/>
              <a:ext cx="1932178" cy="1677670"/>
            </a:xfrm>
            <a:custGeom>
              <a:avLst/>
              <a:gdLst/>
              <a:ahLst/>
              <a:cxnLst/>
              <a:rect l="l" t="t" r="r" b="b"/>
              <a:pathLst>
                <a:path w="1932178" h="1677670">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r="-61406"/>
              </a:stretch>
            </a:blipFill>
            <a:ln w="23812" cap="sq">
              <a:solidFill>
                <a:srgbClr val="4FA278"/>
              </a:solidFill>
              <a:prstDash val="solid"/>
              <a:miter/>
            </a:ln>
          </p:spPr>
        </p:sp>
      </p:grpSp>
      <p:grpSp>
        <p:nvGrpSpPr>
          <p:cNvPr id="19" name="Group 19"/>
          <p:cNvGrpSpPr/>
          <p:nvPr/>
        </p:nvGrpSpPr>
        <p:grpSpPr>
          <a:xfrm>
            <a:off x="4869180" y="-221300"/>
            <a:ext cx="9224147" cy="2637160"/>
            <a:chOff x="0" y="0"/>
            <a:chExt cx="12298863" cy="3516213"/>
          </a:xfrm>
        </p:grpSpPr>
        <p:sp>
          <p:nvSpPr>
            <p:cNvPr id="20" name="Freeform 20"/>
            <p:cNvSpPr/>
            <p:nvPr/>
          </p:nvSpPr>
          <p:spPr>
            <a:xfrm>
              <a:off x="0" y="0"/>
              <a:ext cx="12298863" cy="3516213"/>
            </a:xfrm>
            <a:custGeom>
              <a:avLst/>
              <a:gdLst/>
              <a:ahLst/>
              <a:cxnLst/>
              <a:rect l="l" t="t" r="r" b="b"/>
              <a:pathLst>
                <a:path w="12298863" h="3516213">
                  <a:moveTo>
                    <a:pt x="0" y="0"/>
                  </a:moveTo>
                  <a:lnTo>
                    <a:pt x="12298863" y="0"/>
                  </a:lnTo>
                  <a:lnTo>
                    <a:pt x="12298863" y="3516213"/>
                  </a:lnTo>
                  <a:lnTo>
                    <a:pt x="0" y="3516213"/>
                  </a:lnTo>
                  <a:close/>
                </a:path>
              </a:pathLst>
            </a:custGeom>
            <a:blipFill>
              <a:blip r:embed="rId4">
                <a:alphaModFix amt="0"/>
              </a:blip>
              <a:stretch>
                <a:fillRect t="-59696" r="-21931" b="-6505"/>
              </a:stretch>
            </a:blipFill>
          </p:spPr>
        </p:sp>
        <p:sp>
          <p:nvSpPr>
            <p:cNvPr id="21" name="TextBox 21"/>
            <p:cNvSpPr txBox="1"/>
            <p:nvPr/>
          </p:nvSpPr>
          <p:spPr>
            <a:xfrm>
              <a:off x="0" y="-19050"/>
              <a:ext cx="12298863" cy="3535263"/>
            </a:xfrm>
            <a:prstGeom prst="rect">
              <a:avLst/>
            </a:prstGeom>
          </p:spPr>
          <p:txBody>
            <a:bodyPr lIns="0" tIns="0" rIns="0" bIns="0" rtlCol="0" anchor="ctr"/>
            <a:lstStyle/>
            <a:p>
              <a:pPr algn="ctr">
                <a:lnSpc>
                  <a:spcPts val="4320"/>
                </a:lnSpc>
              </a:pPr>
              <a:r>
                <a:rPr lang="en-US" sz="3600" b="1" spc="150">
                  <a:solidFill>
                    <a:srgbClr val="052B35"/>
                  </a:solidFill>
                  <a:latin typeface="Cambria Bold"/>
                  <a:ea typeface="Cambria Bold"/>
                  <a:cs typeface="Cambria Bold"/>
                  <a:sym typeface="Cambria Bold"/>
                </a:rPr>
                <a:t>KEY CHALLENGES</a:t>
              </a:r>
            </a:p>
          </p:txBody>
        </p:sp>
      </p:grpSp>
      <p:grpSp>
        <p:nvGrpSpPr>
          <p:cNvPr id="22" name="Group 22"/>
          <p:cNvGrpSpPr/>
          <p:nvPr/>
        </p:nvGrpSpPr>
        <p:grpSpPr>
          <a:xfrm>
            <a:off x="678656" y="472916"/>
            <a:ext cx="3923347" cy="1248727"/>
            <a:chOff x="0" y="0"/>
            <a:chExt cx="5231130" cy="1664970"/>
          </a:xfrm>
        </p:grpSpPr>
        <p:sp>
          <p:nvSpPr>
            <p:cNvPr id="23" name="Freeform 23"/>
            <p:cNvSpPr/>
            <p:nvPr/>
          </p:nvSpPr>
          <p:spPr>
            <a:xfrm>
              <a:off x="0" y="0"/>
              <a:ext cx="5231130" cy="1664970"/>
            </a:xfrm>
            <a:custGeom>
              <a:avLst/>
              <a:gdLst/>
              <a:ahLst/>
              <a:cxnLst/>
              <a:rect l="l" t="t" r="r" b="b"/>
              <a:pathLst>
                <a:path w="5231130" h="166497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24" name="Group 24"/>
          <p:cNvGrpSpPr/>
          <p:nvPr/>
        </p:nvGrpSpPr>
        <p:grpSpPr>
          <a:xfrm>
            <a:off x="898112" y="678656"/>
            <a:ext cx="960692" cy="837248"/>
            <a:chOff x="0" y="0"/>
            <a:chExt cx="1280922" cy="1116330"/>
          </a:xfrm>
        </p:grpSpPr>
        <p:sp>
          <p:nvSpPr>
            <p:cNvPr id="25" name="Freeform 25"/>
            <p:cNvSpPr/>
            <p:nvPr/>
          </p:nvSpPr>
          <p:spPr>
            <a:xfrm>
              <a:off x="0" y="0"/>
              <a:ext cx="1280922" cy="1116330"/>
            </a:xfrm>
            <a:custGeom>
              <a:avLst/>
              <a:gdLst/>
              <a:ahLst/>
              <a:cxnLst/>
              <a:rect l="l" t="t" r="r" b="b"/>
              <a:pathLst>
                <a:path w="1280922" h="1116330">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id="26" name="Group 26"/>
          <p:cNvGrpSpPr/>
          <p:nvPr/>
        </p:nvGrpSpPr>
        <p:grpSpPr>
          <a:xfrm>
            <a:off x="1104138" y="822960"/>
            <a:ext cx="548640" cy="548640"/>
            <a:chOff x="0" y="0"/>
            <a:chExt cx="731520" cy="731520"/>
          </a:xfrm>
        </p:grpSpPr>
        <p:sp>
          <p:nvSpPr>
            <p:cNvPr id="27" name="Freeform 27" descr="Team icon"/>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5"/>
              <a:stretch>
                <a:fillRect/>
              </a:stretch>
            </a:blipFill>
          </p:spPr>
        </p:sp>
      </p:grpSp>
      <p:grpSp>
        <p:nvGrpSpPr>
          <p:cNvPr id="28" name="Group 28"/>
          <p:cNvGrpSpPr/>
          <p:nvPr/>
        </p:nvGrpSpPr>
        <p:grpSpPr>
          <a:xfrm>
            <a:off x="2057400" y="576072"/>
            <a:ext cx="2441448" cy="1042416"/>
            <a:chOff x="0" y="0"/>
            <a:chExt cx="3255264" cy="1389888"/>
          </a:xfrm>
        </p:grpSpPr>
        <p:sp>
          <p:nvSpPr>
            <p:cNvPr id="29" name="Freeform 29"/>
            <p:cNvSpPr/>
            <p:nvPr/>
          </p:nvSpPr>
          <p:spPr>
            <a:xfrm>
              <a:off x="0" y="0"/>
              <a:ext cx="3255264" cy="1389888"/>
            </a:xfrm>
            <a:custGeom>
              <a:avLst/>
              <a:gdLst/>
              <a:ahLst/>
              <a:cxnLst/>
              <a:rect l="l" t="t" r="r" b="b"/>
              <a:pathLst>
                <a:path w="3255264" h="1389888">
                  <a:moveTo>
                    <a:pt x="0" y="0"/>
                  </a:moveTo>
                  <a:lnTo>
                    <a:pt x="3255264" y="0"/>
                  </a:lnTo>
                  <a:lnTo>
                    <a:pt x="3255264" y="1389888"/>
                  </a:lnTo>
                  <a:lnTo>
                    <a:pt x="0" y="1389888"/>
                  </a:lnTo>
                  <a:close/>
                </a:path>
              </a:pathLst>
            </a:custGeom>
            <a:blipFill>
              <a:blip r:embed="rId4">
                <a:alphaModFix amt="0"/>
              </a:blip>
              <a:stretch>
                <a:fillRect l="-4781" r="-4781"/>
              </a:stretch>
            </a:blipFill>
          </p:spPr>
        </p:sp>
        <p:sp>
          <p:nvSpPr>
            <p:cNvPr id="30" name="TextBox 30"/>
            <p:cNvSpPr txBox="1"/>
            <p:nvPr/>
          </p:nvSpPr>
          <p:spPr>
            <a:xfrm>
              <a:off x="0" y="-28575"/>
              <a:ext cx="3255264" cy="1418463"/>
            </a:xfrm>
            <a:prstGeom prst="rect">
              <a:avLst/>
            </a:prstGeom>
          </p:spPr>
          <p:txBody>
            <a:bodyPr lIns="0" tIns="0" rIns="0" bIns="0" rtlCol="0" anchor="ctr"/>
            <a:lstStyle/>
            <a:p>
              <a:pPr algn="l">
                <a:lnSpc>
                  <a:spcPts val="1620"/>
                </a:lnSpc>
              </a:pPr>
              <a:r>
                <a:rPr lang="en-US" sz="1350" b="1" spc="449">
                  <a:solidFill>
                    <a:srgbClr val="5B6F6B"/>
                  </a:solidFill>
                  <a:latin typeface="Calibri (MS) Bold"/>
                  <a:ea typeface="Calibri (MS) Bold"/>
                  <a:cs typeface="Calibri (MS) Bold"/>
                  <a:sym typeface="Calibri (MS) Bold"/>
                </a:rPr>
                <a:t>TEAM</a:t>
              </a:r>
            </a:p>
            <a:p>
              <a:pPr algn="l">
                <a:lnSpc>
                  <a:spcPts val="2700"/>
                </a:lnSpc>
              </a:pPr>
              <a:r>
                <a:rPr lang="en-US" sz="2250" b="1" spc="749">
                  <a:solidFill>
                    <a:srgbClr val="026855"/>
                  </a:solidFill>
                  <a:latin typeface="Calibri (MS) Bold"/>
                  <a:ea typeface="Calibri (MS) Bold"/>
                  <a:cs typeface="Calibri (MS) Bold"/>
                  <a:sym typeface="Calibri (MS) Bold"/>
                </a:rPr>
                <a:t>AURA</a:t>
              </a:r>
            </a:p>
          </p:txBody>
        </p:sp>
      </p:grpSp>
      <p:grpSp>
        <p:nvGrpSpPr>
          <p:cNvPr id="31" name="Group 31"/>
          <p:cNvGrpSpPr/>
          <p:nvPr/>
        </p:nvGrpSpPr>
        <p:grpSpPr>
          <a:xfrm>
            <a:off x="822960" y="2194560"/>
            <a:ext cx="685800" cy="593903"/>
            <a:chOff x="0" y="0"/>
            <a:chExt cx="914400" cy="791870"/>
          </a:xfrm>
        </p:grpSpPr>
        <p:sp>
          <p:nvSpPr>
            <p:cNvPr id="32" name="Freeform 3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33" name="Group 33"/>
          <p:cNvGrpSpPr/>
          <p:nvPr/>
        </p:nvGrpSpPr>
        <p:grpSpPr>
          <a:xfrm>
            <a:off x="960120" y="2285086"/>
            <a:ext cx="411480" cy="411480"/>
            <a:chOff x="0" y="0"/>
            <a:chExt cx="548640" cy="548640"/>
          </a:xfrm>
        </p:grpSpPr>
        <p:sp>
          <p:nvSpPr>
            <p:cNvPr id="34" name="Freeform 34" descr="Lightbulb icon"/>
            <p:cNvSpPr/>
            <p:nvPr/>
          </p:nvSpPr>
          <p:spPr>
            <a:xfrm>
              <a:off x="0" y="0"/>
              <a:ext cx="548640" cy="548640"/>
            </a:xfrm>
            <a:custGeom>
              <a:avLst/>
              <a:gdLst/>
              <a:ahLst/>
              <a:cxnLst/>
              <a:rect l="l" t="t" r="r" b="b"/>
              <a:pathLst>
                <a:path w="548640" h="548640">
                  <a:moveTo>
                    <a:pt x="0" y="0"/>
                  </a:moveTo>
                  <a:lnTo>
                    <a:pt x="548640" y="0"/>
                  </a:lnTo>
                  <a:lnTo>
                    <a:pt x="548640" y="548640"/>
                  </a:lnTo>
                  <a:lnTo>
                    <a:pt x="0" y="548640"/>
                  </a:lnTo>
                  <a:lnTo>
                    <a:pt x="0" y="0"/>
                  </a:lnTo>
                  <a:close/>
                </a:path>
              </a:pathLst>
            </a:custGeom>
            <a:blipFill>
              <a:blip r:embed="rId6"/>
              <a:stretch>
                <a:fillRect/>
              </a:stretch>
            </a:blipFill>
          </p:spPr>
        </p:sp>
      </p:grpSp>
      <p:grpSp>
        <p:nvGrpSpPr>
          <p:cNvPr id="35" name="Group 35"/>
          <p:cNvGrpSpPr/>
          <p:nvPr/>
        </p:nvGrpSpPr>
        <p:grpSpPr>
          <a:xfrm>
            <a:off x="1755648" y="2125980"/>
            <a:ext cx="14401800" cy="754380"/>
            <a:chOff x="0" y="0"/>
            <a:chExt cx="19202400" cy="1005840"/>
          </a:xfrm>
        </p:grpSpPr>
        <p:sp>
          <p:nvSpPr>
            <p:cNvPr id="36" name="Freeform 36"/>
            <p:cNvSpPr/>
            <p:nvPr/>
          </p:nvSpPr>
          <p:spPr>
            <a:xfrm>
              <a:off x="0" y="0"/>
              <a:ext cx="19202400" cy="1005840"/>
            </a:xfrm>
            <a:custGeom>
              <a:avLst/>
              <a:gdLst/>
              <a:ahLst/>
              <a:cxnLst/>
              <a:rect l="l" t="t" r="r" b="b"/>
              <a:pathLst>
                <a:path w="19202400" h="1005840">
                  <a:moveTo>
                    <a:pt x="0" y="0"/>
                  </a:moveTo>
                  <a:lnTo>
                    <a:pt x="19202400" y="0"/>
                  </a:lnTo>
                  <a:lnTo>
                    <a:pt x="19202400" y="1005840"/>
                  </a:lnTo>
                  <a:lnTo>
                    <a:pt x="0" y="1005840"/>
                  </a:lnTo>
                  <a:close/>
                </a:path>
              </a:pathLst>
            </a:custGeom>
            <a:blipFill>
              <a:blip r:embed="rId4">
                <a:alphaModFix amt="0"/>
              </a:blip>
              <a:stretch>
                <a:fillRect t="-321987" b="-321987"/>
              </a:stretch>
            </a:blipFill>
          </p:spPr>
        </p:sp>
        <p:sp>
          <p:nvSpPr>
            <p:cNvPr id="37" name="TextBox 37"/>
            <p:cNvSpPr txBox="1"/>
            <p:nvPr/>
          </p:nvSpPr>
          <p:spPr>
            <a:xfrm>
              <a:off x="0" y="-57150"/>
              <a:ext cx="19202400" cy="1062990"/>
            </a:xfrm>
            <a:prstGeom prst="rect">
              <a:avLst/>
            </a:prstGeom>
          </p:spPr>
          <p:txBody>
            <a:bodyPr lIns="0" tIns="0" rIns="0" bIns="0" rtlCol="0" anchor="ctr"/>
            <a:lstStyle/>
            <a:p>
              <a:pPr algn="l">
                <a:lnSpc>
                  <a:spcPts val="3240"/>
                </a:lnSpc>
              </a:pPr>
              <a:r>
                <a:rPr lang="en-US" sz="2700" b="1">
                  <a:solidFill>
                    <a:srgbClr val="094542"/>
                  </a:solidFill>
                  <a:latin typeface="Calibri (MS) Bold"/>
                  <a:ea typeface="Calibri (MS) Bold"/>
                  <a:cs typeface="Calibri (MS) Bold"/>
                  <a:sym typeface="Calibri (MS) Bold"/>
                </a:rPr>
                <a:t>Main difficulties, bottlenecks, root causes and consequences</a:t>
              </a:r>
            </a:p>
          </p:txBody>
        </p:sp>
      </p:grpSp>
      <p:sp>
        <p:nvSpPr>
          <p:cNvPr id="38" name="TextBox 38"/>
          <p:cNvSpPr txBox="1"/>
          <p:nvPr/>
        </p:nvSpPr>
        <p:spPr>
          <a:xfrm>
            <a:off x="1652778" y="3232785"/>
            <a:ext cx="15120761" cy="5206093"/>
          </a:xfrm>
          <a:prstGeom prst="rect">
            <a:avLst/>
          </a:prstGeom>
        </p:spPr>
        <p:txBody>
          <a:bodyPr lIns="0" tIns="0" rIns="0" bIns="0" rtlCol="0" anchor="t">
            <a:spAutoFit/>
          </a:bodyPr>
          <a:lstStyle/>
          <a:p>
            <a:pPr algn="l">
              <a:lnSpc>
                <a:spcPts val="3133"/>
              </a:lnSpc>
            </a:pPr>
            <a:r>
              <a:rPr lang="en-US" sz="2610" b="1">
                <a:solidFill>
                  <a:srgbClr val="0E2A2F"/>
                </a:solidFill>
                <a:latin typeface="Calibri (MS) Bold"/>
                <a:ea typeface="Calibri (MS) Bold"/>
                <a:cs typeface="Calibri (MS) Bold"/>
                <a:sym typeface="Calibri (MS) Bold"/>
              </a:rPr>
              <a:t>Main difficulties</a:t>
            </a:r>
          </a:p>
          <a:p>
            <a:pPr marL="472524" lvl="1" indent="-236262" algn="l">
              <a:lnSpc>
                <a:spcPts val="3133"/>
              </a:lnSpc>
              <a:buFont typeface="Arial"/>
              <a:buChar char="•"/>
            </a:pPr>
            <a:r>
              <a:rPr lang="en-US" sz="2610">
                <a:solidFill>
                  <a:srgbClr val="0E2A2F"/>
                </a:solidFill>
                <a:latin typeface="Calibri (MS)"/>
                <a:ea typeface="Calibri (MS)"/>
                <a:cs typeface="Calibri (MS)"/>
                <a:sym typeface="Calibri (MS)"/>
              </a:rPr>
              <a:t>Raw DNA data is huge and slow to interpret, and needs rare specialists</a:t>
            </a:r>
          </a:p>
          <a:p>
            <a:pPr marL="472524" lvl="1" indent="-236262" algn="l">
              <a:lnSpc>
                <a:spcPts val="3133"/>
              </a:lnSpc>
              <a:buFont typeface="Arial"/>
              <a:buChar char="•"/>
            </a:pPr>
            <a:r>
              <a:rPr lang="en-US" sz="2610">
                <a:solidFill>
                  <a:srgbClr val="0E2A2F"/>
                </a:solidFill>
                <a:latin typeface="Calibri (MS)"/>
                <a:ea typeface="Calibri (MS)"/>
                <a:cs typeface="Calibri (MS)"/>
                <a:sym typeface="Calibri (MS)"/>
              </a:rPr>
              <a:t>Datasets are mostly non-Indian, so predictions are less accurate for us</a:t>
            </a:r>
          </a:p>
          <a:p>
            <a:pPr marL="472524" lvl="1" indent="-236262" algn="l">
              <a:lnSpc>
                <a:spcPts val="3133"/>
              </a:lnSpc>
              <a:buFont typeface="Arial"/>
              <a:buChar char="•"/>
            </a:pPr>
            <a:r>
              <a:rPr lang="en-US" sz="2610">
                <a:solidFill>
                  <a:srgbClr val="0E2A2F"/>
                </a:solidFill>
                <a:latin typeface="Calibri (MS)"/>
                <a:ea typeface="Calibri (MS)"/>
                <a:cs typeface="Calibri (MS)"/>
                <a:sym typeface="Calibri (MS)"/>
              </a:rPr>
              <a:t>Genetic data is sensitive, and AI models are hard for doctors to trust</a:t>
            </a:r>
          </a:p>
          <a:p>
            <a:pPr algn="l">
              <a:lnSpc>
                <a:spcPts val="3133"/>
              </a:lnSpc>
            </a:pPr>
            <a:r>
              <a:rPr lang="en-US" sz="2610" b="1">
                <a:solidFill>
                  <a:srgbClr val="0E2A2F"/>
                </a:solidFill>
                <a:latin typeface="Calibri (MS) Bold"/>
                <a:ea typeface="Calibri (MS) Bold"/>
                <a:cs typeface="Calibri (MS) Bold"/>
                <a:sym typeface="Calibri (MS) Bold"/>
              </a:rPr>
              <a:t>Root causes</a:t>
            </a:r>
          </a:p>
          <a:p>
            <a:pPr marL="472524" lvl="1" indent="-236262" algn="l">
              <a:lnSpc>
                <a:spcPts val="3133"/>
              </a:lnSpc>
              <a:buFont typeface="Arial"/>
              <a:buChar char="•"/>
            </a:pPr>
            <a:r>
              <a:rPr lang="en-US" sz="2610">
                <a:solidFill>
                  <a:srgbClr val="0E2A2F"/>
                </a:solidFill>
                <a:latin typeface="Calibri (MS)"/>
                <a:ea typeface="Calibri (MS)"/>
                <a:cs typeface="Calibri (MS)"/>
                <a:sym typeface="Calibri (MS)"/>
              </a:rPr>
              <a:t>Genomic research grew mostly in the West</a:t>
            </a:r>
          </a:p>
          <a:p>
            <a:pPr marL="472524" lvl="1" indent="-236262" algn="l">
              <a:lnSpc>
                <a:spcPts val="3133"/>
              </a:lnSpc>
              <a:buFont typeface="Arial"/>
              <a:buChar char="•"/>
            </a:pPr>
            <a:r>
              <a:rPr lang="en-US" sz="2610">
                <a:solidFill>
                  <a:srgbClr val="0E2A2F"/>
                </a:solidFill>
                <a:latin typeface="Calibri (MS)"/>
                <a:ea typeface="Calibri (MS)"/>
                <a:cs typeface="Calibri (MS)"/>
                <a:sym typeface="Calibri (MS)"/>
              </a:rPr>
              <a:t>Shortage of geneticists and weak hospital-AI collaboration</a:t>
            </a:r>
          </a:p>
          <a:p>
            <a:pPr marL="472524" lvl="1" indent="-236262" algn="l">
              <a:lnSpc>
                <a:spcPts val="3133"/>
              </a:lnSpc>
              <a:buFont typeface="Arial"/>
              <a:buChar char="•"/>
            </a:pPr>
            <a:r>
              <a:rPr lang="en-US" sz="2610">
                <a:solidFill>
                  <a:srgbClr val="0E2A2F"/>
                </a:solidFill>
                <a:latin typeface="Calibri (MS)"/>
                <a:ea typeface="Calibri (MS)"/>
                <a:cs typeface="Calibri (MS)"/>
                <a:sym typeface="Calibri (MS)"/>
              </a:rPr>
              <a:t>Unclear data-sharing and privacy frameworks</a:t>
            </a:r>
          </a:p>
          <a:p>
            <a:pPr algn="l">
              <a:lnSpc>
                <a:spcPts val="3133"/>
              </a:lnSpc>
            </a:pPr>
            <a:r>
              <a:rPr lang="en-US" sz="2610" b="1">
                <a:solidFill>
                  <a:srgbClr val="0E2A2F"/>
                </a:solidFill>
                <a:latin typeface="Calibri (MS) Bold"/>
                <a:ea typeface="Calibri (MS) Bold"/>
                <a:cs typeface="Calibri (MS) Bold"/>
                <a:sym typeface="Calibri (MS) Bold"/>
              </a:rPr>
              <a:t>If left unsolved</a:t>
            </a:r>
          </a:p>
          <a:p>
            <a:pPr marL="472524" lvl="1" indent="-236262" algn="l">
              <a:lnSpc>
                <a:spcPts val="3133"/>
              </a:lnSpc>
              <a:buFont typeface="Arial"/>
              <a:buChar char="•"/>
            </a:pPr>
            <a:r>
              <a:rPr lang="en-US" sz="2610">
                <a:solidFill>
                  <a:srgbClr val="0E2A2F"/>
                </a:solidFill>
                <a:latin typeface="Calibri (MS)"/>
                <a:ea typeface="Calibri (MS)"/>
                <a:cs typeface="Calibri (MS)"/>
                <a:sym typeface="Calibri (MS)"/>
              </a:rPr>
              <a:t>Late diagnosis and trial-and-error treatment continue</a:t>
            </a:r>
          </a:p>
          <a:p>
            <a:pPr marL="472524" lvl="1" indent="-236262" algn="l">
              <a:lnSpc>
                <a:spcPts val="3133"/>
              </a:lnSpc>
              <a:buFont typeface="Arial"/>
              <a:buChar char="•"/>
            </a:pPr>
            <a:r>
              <a:rPr lang="en-US" sz="2610">
                <a:solidFill>
                  <a:srgbClr val="0E2A2F"/>
                </a:solidFill>
                <a:latin typeface="Calibri (MS)"/>
                <a:ea typeface="Calibri (MS)"/>
                <a:cs typeface="Calibri (MS)"/>
                <a:sym typeface="Calibri (MS)"/>
              </a:rPr>
              <a:t>Healthcare inequality widens</a:t>
            </a:r>
          </a:p>
          <a:p>
            <a:pPr marL="472524" lvl="1" indent="-236262" algn="l">
              <a:lnSpc>
                <a:spcPts val="3133"/>
              </a:lnSpc>
              <a:buFont typeface="Arial"/>
              <a:buChar char="•"/>
            </a:pPr>
            <a:r>
              <a:rPr lang="en-US" sz="2610">
                <a:solidFill>
                  <a:srgbClr val="0E2A2F"/>
                </a:solidFill>
                <a:latin typeface="Calibri (MS)"/>
                <a:ea typeface="Calibri (MS)"/>
                <a:cs typeface="Calibri (MS)"/>
                <a:sym typeface="Calibri (MS)"/>
              </a:rPr>
              <a:t>Precision medicine stays out of reach for most people</a:t>
            </a:r>
          </a:p>
          <a:p>
            <a:pPr algn="l">
              <a:lnSpc>
                <a:spcPts val="3133"/>
              </a:lnSpc>
            </a:pPr>
            <a:endParaRPr lang="en-US" sz="2610">
              <a:solidFill>
                <a:srgbClr val="0E2A2F"/>
              </a:solidFill>
              <a:latin typeface="Calibri (MS)"/>
              <a:ea typeface="Calibri (MS)"/>
              <a:cs typeface="Calibri (MS)"/>
              <a:sym typeface="Calibri (MS)"/>
            </a:endParaRPr>
          </a:p>
        </p:txBody>
      </p:sp>
      <p:grpSp>
        <p:nvGrpSpPr>
          <p:cNvPr id="39" name="Group 39"/>
          <p:cNvGrpSpPr/>
          <p:nvPr/>
        </p:nvGrpSpPr>
        <p:grpSpPr>
          <a:xfrm>
            <a:off x="16888511" y="9614916"/>
            <a:ext cx="685800" cy="593903"/>
            <a:chOff x="0" y="0"/>
            <a:chExt cx="914400" cy="791870"/>
          </a:xfrm>
        </p:grpSpPr>
        <p:sp>
          <p:nvSpPr>
            <p:cNvPr id="40" name="Freeform 40"/>
            <p:cNvSpPr/>
            <p:nvPr/>
          </p:nvSpPr>
          <p:spPr>
            <a:xfrm>
              <a:off x="0" y="0"/>
              <a:ext cx="914400" cy="791870"/>
            </a:xfrm>
            <a:custGeom>
              <a:avLst/>
              <a:gdLst/>
              <a:ahLst/>
              <a:cxnLst/>
              <a:rect l="l" t="t" r="r" b="b"/>
              <a:pathLst>
                <a:path w="914400" h="791870">
                  <a:moveTo>
                    <a:pt x="0" y="0"/>
                  </a:moveTo>
                  <a:lnTo>
                    <a:pt x="914400" y="0"/>
                  </a:lnTo>
                  <a:lnTo>
                    <a:pt x="914400" y="791870"/>
                  </a:lnTo>
                  <a:lnTo>
                    <a:pt x="0" y="791870"/>
                  </a:lnTo>
                  <a:close/>
                </a:path>
              </a:pathLst>
            </a:custGeom>
            <a:blipFill>
              <a:blip r:embed="rId4">
                <a:alphaModFix amt="0"/>
              </a:blip>
              <a:stretch>
                <a:fillRect l="-61110" r="-61110"/>
              </a:stretch>
            </a:blipFill>
          </p:spPr>
        </p:sp>
        <p:sp>
          <p:nvSpPr>
            <p:cNvPr id="41" name="TextBox 41"/>
            <p:cNvSpPr txBox="1"/>
            <p:nvPr/>
          </p:nvSpPr>
          <p:spPr>
            <a:xfrm>
              <a:off x="0" y="-28575"/>
              <a:ext cx="914400" cy="820445"/>
            </a:xfrm>
            <a:prstGeom prst="rect">
              <a:avLst/>
            </a:prstGeom>
          </p:spPr>
          <p:txBody>
            <a:bodyPr lIns="0" tIns="0" rIns="0" bIns="0" rtlCol="0" anchor="ctr"/>
            <a:lstStyle/>
            <a:p>
              <a:pPr algn="ctr">
                <a:lnSpc>
                  <a:spcPts val="1980"/>
                </a:lnSpc>
              </a:pPr>
              <a:r>
                <a:rPr lang="en-US" sz="1650" b="1">
                  <a:solidFill>
                    <a:srgbClr val="052B35"/>
                  </a:solidFill>
                  <a:latin typeface="Calibri (MS) Bold"/>
                  <a:ea typeface="Calibri (MS) Bold"/>
                  <a:cs typeface="Calibri (MS) Bold"/>
                  <a:sym typeface="Calibri (MS) Bold"/>
                </a:rPr>
                <a:t>5</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8F5"/>
        </a:solidFill>
        <a:effectLst/>
      </p:bgPr>
    </p:bg>
    <p:spTree>
      <p:nvGrpSpPr>
        <p:cNvPr id="1" name=""/>
        <p:cNvGrpSpPr/>
        <p:nvPr/>
      </p:nvGrpSpPr>
      <p:grpSpPr>
        <a:xfrm>
          <a:off x="0" y="0"/>
          <a:ext cx="0" cy="0"/>
          <a:chOff x="0" y="0"/>
          <a:chExt cx="0" cy="0"/>
        </a:xfrm>
      </p:grpSpPr>
      <p:grpSp>
        <p:nvGrpSpPr>
          <p:cNvPr id="2" name="Group 2"/>
          <p:cNvGrpSpPr/>
          <p:nvPr/>
        </p:nvGrpSpPr>
        <p:grpSpPr>
          <a:xfrm>
            <a:off x="16360159" y="472916"/>
            <a:ext cx="1248727" cy="1248727"/>
            <a:chOff x="0" y="0"/>
            <a:chExt cx="1664970" cy="1664970"/>
          </a:xfrm>
        </p:grpSpPr>
        <p:sp>
          <p:nvSpPr>
            <p:cNvPr id="3" name="Freeform 3"/>
            <p:cNvSpPr/>
            <p:nvPr/>
          </p:nvSpPr>
          <p:spPr>
            <a:xfrm>
              <a:off x="0" y="0"/>
              <a:ext cx="1664970" cy="1664970"/>
            </a:xfrm>
            <a:custGeom>
              <a:avLst/>
              <a:gdLst/>
              <a:ahLst/>
              <a:cxnLst/>
              <a:rect l="l" t="t" r="r" b="b"/>
              <a:pathLst>
                <a:path w="1664970" h="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4" name="Group 4"/>
          <p:cNvGrpSpPr/>
          <p:nvPr/>
        </p:nvGrpSpPr>
        <p:grpSpPr>
          <a:xfrm>
            <a:off x="16583920" y="576072"/>
            <a:ext cx="801195" cy="1042416"/>
            <a:chOff x="0" y="0"/>
            <a:chExt cx="1068260" cy="1389888"/>
          </a:xfrm>
        </p:grpSpPr>
        <p:sp>
          <p:nvSpPr>
            <p:cNvPr id="5" name="Freeform 5" descr="Genesis logo"/>
            <p:cNvSpPr/>
            <p:nvPr/>
          </p:nvSpPr>
          <p:spPr>
            <a:xfrm>
              <a:off x="0" y="0"/>
              <a:ext cx="1068324" cy="1389888"/>
            </a:xfrm>
            <a:custGeom>
              <a:avLst/>
              <a:gdLst/>
              <a:ahLst/>
              <a:cxnLst/>
              <a:rect l="l" t="t" r="r" b="b"/>
              <a:pathLst>
                <a:path w="1068324" h="1389888">
                  <a:moveTo>
                    <a:pt x="0" y="0"/>
                  </a:moveTo>
                  <a:lnTo>
                    <a:pt x="1068324" y="0"/>
                  </a:lnTo>
                  <a:lnTo>
                    <a:pt x="1068324" y="1389888"/>
                  </a:lnTo>
                  <a:lnTo>
                    <a:pt x="0" y="1389888"/>
                  </a:lnTo>
                  <a:lnTo>
                    <a:pt x="0" y="0"/>
                  </a:lnTo>
                  <a:close/>
                </a:path>
              </a:pathLst>
            </a:custGeom>
            <a:blipFill>
              <a:blip r:embed="rId3"/>
              <a:stretch>
                <a:fillRect r="5"/>
              </a:stretch>
            </a:blipFill>
          </p:spPr>
        </p:sp>
      </p:grpSp>
      <p:grpSp>
        <p:nvGrpSpPr>
          <p:cNvPr id="6" name="Group 6"/>
          <p:cNvGrpSpPr/>
          <p:nvPr/>
        </p:nvGrpSpPr>
        <p:grpSpPr>
          <a:xfrm>
            <a:off x="0" y="9532620"/>
            <a:ext cx="18287543" cy="754380"/>
            <a:chOff x="0" y="0"/>
            <a:chExt cx="24383390" cy="1005840"/>
          </a:xfrm>
        </p:grpSpPr>
        <p:sp>
          <p:nvSpPr>
            <p:cNvPr id="7" name="Freeform 7"/>
            <p:cNvSpPr/>
            <p:nvPr/>
          </p:nvSpPr>
          <p:spPr>
            <a:xfrm>
              <a:off x="0" y="0"/>
              <a:ext cx="24383364" cy="1005840"/>
            </a:xfrm>
            <a:custGeom>
              <a:avLst/>
              <a:gdLst/>
              <a:ahLst/>
              <a:cxnLst/>
              <a:rect l="l" t="t" r="r" b="b"/>
              <a:pathLst>
                <a:path w="24383364" h="1005840">
                  <a:moveTo>
                    <a:pt x="0" y="0"/>
                  </a:moveTo>
                  <a:lnTo>
                    <a:pt x="24383364" y="0"/>
                  </a:lnTo>
                  <a:lnTo>
                    <a:pt x="24383364" y="1005840"/>
                  </a:lnTo>
                  <a:lnTo>
                    <a:pt x="0" y="1005840"/>
                  </a:lnTo>
                  <a:close/>
                </a:path>
              </a:pathLst>
            </a:custGeom>
            <a:solidFill>
              <a:srgbClr val="052B35"/>
            </a:solidFill>
          </p:spPr>
        </p:sp>
      </p:grpSp>
      <p:grpSp>
        <p:nvGrpSpPr>
          <p:cNvPr id="8" name="Group 8"/>
          <p:cNvGrpSpPr/>
          <p:nvPr/>
        </p:nvGrpSpPr>
        <p:grpSpPr>
          <a:xfrm>
            <a:off x="3429000" y="9532620"/>
            <a:ext cx="11429543" cy="754380"/>
            <a:chOff x="0" y="0"/>
            <a:chExt cx="15239390" cy="1005840"/>
          </a:xfrm>
        </p:grpSpPr>
        <p:sp>
          <p:nvSpPr>
            <p:cNvPr id="9" name="Freeform 9"/>
            <p:cNvSpPr/>
            <p:nvPr/>
          </p:nvSpPr>
          <p:spPr>
            <a:xfrm>
              <a:off x="0" y="0"/>
              <a:ext cx="15239391" cy="1005840"/>
            </a:xfrm>
            <a:custGeom>
              <a:avLst/>
              <a:gdLst/>
              <a:ahLst/>
              <a:cxnLst/>
              <a:rect l="l" t="t" r="r" b="b"/>
              <a:pathLst>
                <a:path w="15239391" h="1005840">
                  <a:moveTo>
                    <a:pt x="0" y="0"/>
                  </a:moveTo>
                  <a:lnTo>
                    <a:pt x="15239391" y="0"/>
                  </a:lnTo>
                  <a:lnTo>
                    <a:pt x="15239391" y="1005840"/>
                  </a:lnTo>
                  <a:lnTo>
                    <a:pt x="0" y="1005840"/>
                  </a:lnTo>
                  <a:close/>
                </a:path>
              </a:pathLst>
            </a:custGeom>
            <a:blipFill>
              <a:blip r:embed="rId4">
                <a:alphaModFix amt="0"/>
              </a:blip>
              <a:stretch>
                <a:fillRect t="-245216" b="-245216"/>
              </a:stretch>
            </a:blipFill>
          </p:spPr>
        </p:sp>
        <p:sp>
          <p:nvSpPr>
            <p:cNvPr id="10" name="TextBox 10"/>
            <p:cNvSpPr txBox="1"/>
            <p:nvPr/>
          </p:nvSpPr>
          <p:spPr>
            <a:xfrm>
              <a:off x="0" y="-19050"/>
              <a:ext cx="15239390" cy="1024890"/>
            </a:xfrm>
            <a:prstGeom prst="rect">
              <a:avLst/>
            </a:prstGeom>
          </p:spPr>
          <p:txBody>
            <a:bodyPr lIns="0" tIns="0" rIns="0" bIns="0" rtlCol="0" anchor="ctr"/>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id="11" name="Group 11"/>
          <p:cNvGrpSpPr/>
          <p:nvPr/>
        </p:nvGrpSpPr>
        <p:grpSpPr>
          <a:xfrm>
            <a:off x="16888511" y="9614916"/>
            <a:ext cx="685800" cy="593903"/>
            <a:chOff x="0" y="0"/>
            <a:chExt cx="914400" cy="791870"/>
          </a:xfrm>
        </p:grpSpPr>
        <p:sp>
          <p:nvSpPr>
            <p:cNvPr id="12" name="Freeform 1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13" name="Group 13"/>
          <p:cNvGrpSpPr/>
          <p:nvPr/>
        </p:nvGrpSpPr>
        <p:grpSpPr>
          <a:xfrm rot="5400000">
            <a:off x="15903559" y="7017544"/>
            <a:ext cx="2161927" cy="1875473"/>
            <a:chOff x="0" y="0"/>
            <a:chExt cx="2882570" cy="2500630"/>
          </a:xfrm>
        </p:grpSpPr>
        <p:sp>
          <p:nvSpPr>
            <p:cNvPr id="14" name="Freeform 14"/>
            <p:cNvSpPr/>
            <p:nvPr/>
          </p:nvSpPr>
          <p:spPr>
            <a:xfrm>
              <a:off x="0" y="0"/>
              <a:ext cx="2882519" cy="2500630"/>
            </a:xfrm>
            <a:custGeom>
              <a:avLst/>
              <a:gdLst/>
              <a:ahLst/>
              <a:cxnLst/>
              <a:rect l="l" t="t" r="r" b="b"/>
              <a:pathLst>
                <a:path w="2882519" h="2500630">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r="-61306"/>
              </a:stretch>
            </a:blipFill>
            <a:ln w="23812" cap="sq">
              <a:solidFill>
                <a:srgbClr val="4FA278"/>
              </a:solidFill>
              <a:prstDash val="solid"/>
              <a:miter/>
            </a:ln>
          </p:spPr>
        </p:sp>
      </p:grpSp>
      <p:grpSp>
        <p:nvGrpSpPr>
          <p:cNvPr id="15" name="Group 15"/>
          <p:cNvGrpSpPr/>
          <p:nvPr/>
        </p:nvGrpSpPr>
        <p:grpSpPr>
          <a:xfrm rot="5400000">
            <a:off x="14613988" y="8011954"/>
            <a:ext cx="1449219" cy="1258252"/>
            <a:chOff x="0" y="0"/>
            <a:chExt cx="1932292" cy="1677670"/>
          </a:xfrm>
        </p:grpSpPr>
        <p:sp>
          <p:nvSpPr>
            <p:cNvPr id="16" name="Freeform 16"/>
            <p:cNvSpPr/>
            <p:nvPr/>
          </p:nvSpPr>
          <p:spPr>
            <a:xfrm>
              <a:off x="0" y="0"/>
              <a:ext cx="1932178" cy="1677670"/>
            </a:xfrm>
            <a:custGeom>
              <a:avLst/>
              <a:gdLst/>
              <a:ahLst/>
              <a:cxnLst/>
              <a:rect l="l" t="t" r="r" b="b"/>
              <a:pathLst>
                <a:path w="1932178" h="1677670">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r="-61406"/>
              </a:stretch>
            </a:blipFill>
            <a:ln w="23812" cap="sq">
              <a:solidFill>
                <a:srgbClr val="4FA278"/>
              </a:solidFill>
              <a:prstDash val="solid"/>
              <a:miter/>
            </a:ln>
          </p:spPr>
        </p:sp>
      </p:grpSp>
      <p:grpSp>
        <p:nvGrpSpPr>
          <p:cNvPr id="17" name="Group 17"/>
          <p:cNvGrpSpPr/>
          <p:nvPr/>
        </p:nvGrpSpPr>
        <p:grpSpPr>
          <a:xfrm rot="5400000">
            <a:off x="17357188" y="5748814"/>
            <a:ext cx="1449219" cy="1258252"/>
            <a:chOff x="0" y="0"/>
            <a:chExt cx="1932292" cy="1677670"/>
          </a:xfrm>
        </p:grpSpPr>
        <p:sp>
          <p:nvSpPr>
            <p:cNvPr id="18" name="Freeform 18"/>
            <p:cNvSpPr/>
            <p:nvPr/>
          </p:nvSpPr>
          <p:spPr>
            <a:xfrm>
              <a:off x="0" y="0"/>
              <a:ext cx="1932178" cy="1677670"/>
            </a:xfrm>
            <a:custGeom>
              <a:avLst/>
              <a:gdLst/>
              <a:ahLst/>
              <a:cxnLst/>
              <a:rect l="l" t="t" r="r" b="b"/>
              <a:pathLst>
                <a:path w="1932178" h="1677670">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r="-61406"/>
              </a:stretch>
            </a:blipFill>
            <a:ln w="23812" cap="sq">
              <a:solidFill>
                <a:srgbClr val="4FA278"/>
              </a:solidFill>
              <a:prstDash val="solid"/>
              <a:miter/>
            </a:ln>
          </p:spPr>
        </p:sp>
      </p:grpSp>
      <p:grpSp>
        <p:nvGrpSpPr>
          <p:cNvPr id="19" name="Group 19"/>
          <p:cNvGrpSpPr/>
          <p:nvPr/>
        </p:nvGrpSpPr>
        <p:grpSpPr>
          <a:xfrm>
            <a:off x="4349412" y="-221300"/>
            <a:ext cx="11247120" cy="2637160"/>
            <a:chOff x="0" y="0"/>
            <a:chExt cx="14996160" cy="3516213"/>
          </a:xfrm>
        </p:grpSpPr>
        <p:sp>
          <p:nvSpPr>
            <p:cNvPr id="20" name="Freeform 20"/>
            <p:cNvSpPr/>
            <p:nvPr/>
          </p:nvSpPr>
          <p:spPr>
            <a:xfrm>
              <a:off x="0" y="0"/>
              <a:ext cx="14996161" cy="3516213"/>
            </a:xfrm>
            <a:custGeom>
              <a:avLst/>
              <a:gdLst/>
              <a:ahLst/>
              <a:cxnLst/>
              <a:rect l="l" t="t" r="r" b="b"/>
              <a:pathLst>
                <a:path w="14996161" h="3516213">
                  <a:moveTo>
                    <a:pt x="0" y="0"/>
                  </a:moveTo>
                  <a:lnTo>
                    <a:pt x="14996161" y="0"/>
                  </a:lnTo>
                  <a:lnTo>
                    <a:pt x="14996161" y="3516213"/>
                  </a:lnTo>
                  <a:lnTo>
                    <a:pt x="0" y="3516213"/>
                  </a:lnTo>
                  <a:close/>
                </a:path>
              </a:pathLst>
            </a:custGeom>
            <a:blipFill>
              <a:blip r:embed="rId4">
                <a:alphaModFix amt="0"/>
              </a:blip>
              <a:stretch>
                <a:fillRect t="-59696" b="-6505"/>
              </a:stretch>
            </a:blipFill>
          </p:spPr>
        </p:sp>
        <p:sp>
          <p:nvSpPr>
            <p:cNvPr id="21" name="TextBox 21"/>
            <p:cNvSpPr txBox="1"/>
            <p:nvPr/>
          </p:nvSpPr>
          <p:spPr>
            <a:xfrm>
              <a:off x="0" y="-19050"/>
              <a:ext cx="14996160" cy="3535263"/>
            </a:xfrm>
            <a:prstGeom prst="rect">
              <a:avLst/>
            </a:prstGeom>
          </p:spPr>
          <p:txBody>
            <a:bodyPr lIns="0" tIns="0" rIns="0" bIns="0" rtlCol="0" anchor="ctr"/>
            <a:lstStyle/>
            <a:p>
              <a:pPr algn="ctr">
                <a:lnSpc>
                  <a:spcPts val="4320"/>
                </a:lnSpc>
              </a:pPr>
              <a:r>
                <a:rPr lang="en-US" sz="3600" b="1" spc="150">
                  <a:solidFill>
                    <a:srgbClr val="052B35"/>
                  </a:solidFill>
                  <a:latin typeface="Cambria Bold"/>
                  <a:ea typeface="Cambria Bold"/>
                  <a:cs typeface="Cambria Bold"/>
                  <a:sym typeface="Cambria Bold"/>
                </a:rPr>
                <a:t>EXISTING SOLUTIONS / APPROACHES</a:t>
              </a:r>
            </a:p>
          </p:txBody>
        </p:sp>
      </p:grpSp>
      <p:grpSp>
        <p:nvGrpSpPr>
          <p:cNvPr id="22" name="Group 22"/>
          <p:cNvGrpSpPr/>
          <p:nvPr/>
        </p:nvGrpSpPr>
        <p:grpSpPr>
          <a:xfrm>
            <a:off x="678656" y="472916"/>
            <a:ext cx="3923347" cy="1248727"/>
            <a:chOff x="0" y="0"/>
            <a:chExt cx="5231130" cy="1664970"/>
          </a:xfrm>
        </p:grpSpPr>
        <p:sp>
          <p:nvSpPr>
            <p:cNvPr id="23" name="Freeform 23"/>
            <p:cNvSpPr/>
            <p:nvPr/>
          </p:nvSpPr>
          <p:spPr>
            <a:xfrm>
              <a:off x="0" y="0"/>
              <a:ext cx="5231130" cy="1664970"/>
            </a:xfrm>
            <a:custGeom>
              <a:avLst/>
              <a:gdLst/>
              <a:ahLst/>
              <a:cxnLst/>
              <a:rect l="l" t="t" r="r" b="b"/>
              <a:pathLst>
                <a:path w="5231130" h="166497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24" name="Group 24"/>
          <p:cNvGrpSpPr/>
          <p:nvPr/>
        </p:nvGrpSpPr>
        <p:grpSpPr>
          <a:xfrm>
            <a:off x="898112" y="678656"/>
            <a:ext cx="960692" cy="837248"/>
            <a:chOff x="0" y="0"/>
            <a:chExt cx="1280922" cy="1116330"/>
          </a:xfrm>
        </p:grpSpPr>
        <p:sp>
          <p:nvSpPr>
            <p:cNvPr id="25" name="Freeform 25"/>
            <p:cNvSpPr/>
            <p:nvPr/>
          </p:nvSpPr>
          <p:spPr>
            <a:xfrm>
              <a:off x="0" y="0"/>
              <a:ext cx="1280922" cy="1116330"/>
            </a:xfrm>
            <a:custGeom>
              <a:avLst/>
              <a:gdLst/>
              <a:ahLst/>
              <a:cxnLst/>
              <a:rect l="l" t="t" r="r" b="b"/>
              <a:pathLst>
                <a:path w="1280922" h="1116330">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id="26" name="Group 26"/>
          <p:cNvGrpSpPr/>
          <p:nvPr/>
        </p:nvGrpSpPr>
        <p:grpSpPr>
          <a:xfrm>
            <a:off x="1104138" y="822960"/>
            <a:ext cx="548640" cy="548640"/>
            <a:chOff x="0" y="0"/>
            <a:chExt cx="731520" cy="731520"/>
          </a:xfrm>
        </p:grpSpPr>
        <p:sp>
          <p:nvSpPr>
            <p:cNvPr id="27" name="Freeform 27" descr="Team icon"/>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5"/>
              <a:stretch>
                <a:fillRect/>
              </a:stretch>
            </a:blipFill>
          </p:spPr>
        </p:sp>
      </p:grpSp>
      <p:grpSp>
        <p:nvGrpSpPr>
          <p:cNvPr id="28" name="Group 28"/>
          <p:cNvGrpSpPr/>
          <p:nvPr/>
        </p:nvGrpSpPr>
        <p:grpSpPr>
          <a:xfrm>
            <a:off x="2057400" y="576072"/>
            <a:ext cx="2441448" cy="1042416"/>
            <a:chOff x="0" y="0"/>
            <a:chExt cx="3255264" cy="1389888"/>
          </a:xfrm>
        </p:grpSpPr>
        <p:sp>
          <p:nvSpPr>
            <p:cNvPr id="29" name="Freeform 29"/>
            <p:cNvSpPr/>
            <p:nvPr/>
          </p:nvSpPr>
          <p:spPr>
            <a:xfrm>
              <a:off x="0" y="0"/>
              <a:ext cx="3255264" cy="1389888"/>
            </a:xfrm>
            <a:custGeom>
              <a:avLst/>
              <a:gdLst/>
              <a:ahLst/>
              <a:cxnLst/>
              <a:rect l="l" t="t" r="r" b="b"/>
              <a:pathLst>
                <a:path w="3255264" h="1389888">
                  <a:moveTo>
                    <a:pt x="0" y="0"/>
                  </a:moveTo>
                  <a:lnTo>
                    <a:pt x="3255264" y="0"/>
                  </a:lnTo>
                  <a:lnTo>
                    <a:pt x="3255264" y="1389888"/>
                  </a:lnTo>
                  <a:lnTo>
                    <a:pt x="0" y="1389888"/>
                  </a:lnTo>
                  <a:close/>
                </a:path>
              </a:pathLst>
            </a:custGeom>
            <a:blipFill>
              <a:blip r:embed="rId4">
                <a:alphaModFix amt="0"/>
              </a:blip>
              <a:stretch>
                <a:fillRect l="-4781" r="-4781"/>
              </a:stretch>
            </a:blipFill>
          </p:spPr>
        </p:sp>
        <p:sp>
          <p:nvSpPr>
            <p:cNvPr id="30" name="TextBox 30"/>
            <p:cNvSpPr txBox="1"/>
            <p:nvPr/>
          </p:nvSpPr>
          <p:spPr>
            <a:xfrm>
              <a:off x="0" y="-28575"/>
              <a:ext cx="3255264" cy="1418463"/>
            </a:xfrm>
            <a:prstGeom prst="rect">
              <a:avLst/>
            </a:prstGeom>
          </p:spPr>
          <p:txBody>
            <a:bodyPr lIns="0" tIns="0" rIns="0" bIns="0" rtlCol="0" anchor="ctr"/>
            <a:lstStyle/>
            <a:p>
              <a:pPr algn="l">
                <a:lnSpc>
                  <a:spcPts val="1620"/>
                </a:lnSpc>
              </a:pPr>
              <a:r>
                <a:rPr lang="en-US" sz="1350" b="1" spc="449">
                  <a:solidFill>
                    <a:srgbClr val="5B6F6B"/>
                  </a:solidFill>
                  <a:latin typeface="Calibri (MS) Bold"/>
                  <a:ea typeface="Calibri (MS) Bold"/>
                  <a:cs typeface="Calibri (MS) Bold"/>
                  <a:sym typeface="Calibri (MS) Bold"/>
                </a:rPr>
                <a:t>TEAM</a:t>
              </a:r>
            </a:p>
            <a:p>
              <a:pPr algn="l">
                <a:lnSpc>
                  <a:spcPts val="2700"/>
                </a:lnSpc>
              </a:pPr>
              <a:r>
                <a:rPr lang="en-US" sz="2250" b="1" spc="749">
                  <a:solidFill>
                    <a:srgbClr val="026855"/>
                  </a:solidFill>
                  <a:latin typeface="Calibri (MS) Bold"/>
                  <a:ea typeface="Calibri (MS) Bold"/>
                  <a:cs typeface="Calibri (MS) Bold"/>
                  <a:sym typeface="Calibri (MS) Bold"/>
                </a:rPr>
                <a:t>AURA</a:t>
              </a:r>
            </a:p>
          </p:txBody>
        </p:sp>
      </p:grpSp>
      <p:grpSp>
        <p:nvGrpSpPr>
          <p:cNvPr id="31" name="Group 31"/>
          <p:cNvGrpSpPr/>
          <p:nvPr/>
        </p:nvGrpSpPr>
        <p:grpSpPr>
          <a:xfrm>
            <a:off x="822960" y="2194560"/>
            <a:ext cx="685800" cy="593903"/>
            <a:chOff x="0" y="0"/>
            <a:chExt cx="914400" cy="791870"/>
          </a:xfrm>
        </p:grpSpPr>
        <p:sp>
          <p:nvSpPr>
            <p:cNvPr id="32" name="Freeform 3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33" name="Group 33"/>
          <p:cNvGrpSpPr/>
          <p:nvPr/>
        </p:nvGrpSpPr>
        <p:grpSpPr>
          <a:xfrm>
            <a:off x="960120" y="2285086"/>
            <a:ext cx="411480" cy="411480"/>
            <a:chOff x="0" y="0"/>
            <a:chExt cx="548640" cy="548640"/>
          </a:xfrm>
        </p:grpSpPr>
        <p:sp>
          <p:nvSpPr>
            <p:cNvPr id="34" name="Freeform 34" descr="Lightbulb icon"/>
            <p:cNvSpPr/>
            <p:nvPr/>
          </p:nvSpPr>
          <p:spPr>
            <a:xfrm>
              <a:off x="0" y="0"/>
              <a:ext cx="548640" cy="548640"/>
            </a:xfrm>
            <a:custGeom>
              <a:avLst/>
              <a:gdLst/>
              <a:ahLst/>
              <a:cxnLst/>
              <a:rect l="l" t="t" r="r" b="b"/>
              <a:pathLst>
                <a:path w="548640" h="548640">
                  <a:moveTo>
                    <a:pt x="0" y="0"/>
                  </a:moveTo>
                  <a:lnTo>
                    <a:pt x="548640" y="0"/>
                  </a:lnTo>
                  <a:lnTo>
                    <a:pt x="548640" y="548640"/>
                  </a:lnTo>
                  <a:lnTo>
                    <a:pt x="0" y="548640"/>
                  </a:lnTo>
                  <a:lnTo>
                    <a:pt x="0" y="0"/>
                  </a:lnTo>
                  <a:close/>
                </a:path>
              </a:pathLst>
            </a:custGeom>
            <a:blipFill>
              <a:blip r:embed="rId6"/>
              <a:stretch>
                <a:fillRect/>
              </a:stretch>
            </a:blipFill>
          </p:spPr>
        </p:sp>
      </p:grpSp>
      <p:grpSp>
        <p:nvGrpSpPr>
          <p:cNvPr id="35" name="Group 35"/>
          <p:cNvGrpSpPr/>
          <p:nvPr/>
        </p:nvGrpSpPr>
        <p:grpSpPr>
          <a:xfrm>
            <a:off x="1755648" y="2125980"/>
            <a:ext cx="14401800" cy="754380"/>
            <a:chOff x="0" y="0"/>
            <a:chExt cx="19202400" cy="1005840"/>
          </a:xfrm>
        </p:grpSpPr>
        <p:sp>
          <p:nvSpPr>
            <p:cNvPr id="36" name="Freeform 36"/>
            <p:cNvSpPr/>
            <p:nvPr/>
          </p:nvSpPr>
          <p:spPr>
            <a:xfrm>
              <a:off x="0" y="0"/>
              <a:ext cx="19202400" cy="1005840"/>
            </a:xfrm>
            <a:custGeom>
              <a:avLst/>
              <a:gdLst/>
              <a:ahLst/>
              <a:cxnLst/>
              <a:rect l="l" t="t" r="r" b="b"/>
              <a:pathLst>
                <a:path w="19202400" h="1005840">
                  <a:moveTo>
                    <a:pt x="0" y="0"/>
                  </a:moveTo>
                  <a:lnTo>
                    <a:pt x="19202400" y="0"/>
                  </a:lnTo>
                  <a:lnTo>
                    <a:pt x="19202400" y="1005840"/>
                  </a:lnTo>
                  <a:lnTo>
                    <a:pt x="0" y="1005840"/>
                  </a:lnTo>
                  <a:close/>
                </a:path>
              </a:pathLst>
            </a:custGeom>
            <a:blipFill>
              <a:blip r:embed="rId4">
                <a:alphaModFix amt="0"/>
              </a:blip>
              <a:stretch>
                <a:fillRect t="-321987" b="-321987"/>
              </a:stretch>
            </a:blipFill>
          </p:spPr>
        </p:sp>
        <p:sp>
          <p:nvSpPr>
            <p:cNvPr id="37" name="TextBox 37"/>
            <p:cNvSpPr txBox="1"/>
            <p:nvPr/>
          </p:nvSpPr>
          <p:spPr>
            <a:xfrm>
              <a:off x="0" y="-57150"/>
              <a:ext cx="19202400" cy="1062990"/>
            </a:xfrm>
            <a:prstGeom prst="rect">
              <a:avLst/>
            </a:prstGeom>
          </p:spPr>
          <p:txBody>
            <a:bodyPr lIns="0" tIns="0" rIns="0" bIns="0" rtlCol="0" anchor="ctr"/>
            <a:lstStyle/>
            <a:p>
              <a:pPr algn="l">
                <a:lnSpc>
                  <a:spcPts val="3240"/>
                </a:lnSpc>
              </a:pPr>
              <a:r>
                <a:rPr lang="en-US" sz="2700" b="1">
                  <a:solidFill>
                    <a:srgbClr val="094542"/>
                  </a:solidFill>
                  <a:latin typeface="Calibri (MS) Bold"/>
                  <a:ea typeface="Calibri (MS) Bold"/>
                  <a:cs typeface="Calibri (MS) Bold"/>
                  <a:sym typeface="Calibri (MS) Bold"/>
                </a:rPr>
                <a:t>What is already being done, and where it falls short</a:t>
              </a:r>
            </a:p>
          </p:txBody>
        </p:sp>
      </p:grpSp>
      <p:sp>
        <p:nvSpPr>
          <p:cNvPr id="38" name="TextBox 38"/>
          <p:cNvSpPr txBox="1"/>
          <p:nvPr/>
        </p:nvSpPr>
        <p:spPr>
          <a:xfrm>
            <a:off x="1303020" y="2950937"/>
            <a:ext cx="15585491" cy="6610350"/>
          </a:xfrm>
          <a:prstGeom prst="rect">
            <a:avLst/>
          </a:prstGeom>
        </p:spPr>
        <p:txBody>
          <a:bodyPr lIns="0" tIns="0" rIns="0" bIns="0" rtlCol="0" anchor="t">
            <a:spAutoFit/>
          </a:bodyPr>
          <a:lstStyle/>
          <a:p>
            <a:pPr algn="l">
              <a:lnSpc>
                <a:spcPts val="3229"/>
              </a:lnSpc>
            </a:pPr>
            <a:r>
              <a:rPr lang="en-US" sz="2691" b="1">
                <a:solidFill>
                  <a:srgbClr val="0E2A2F"/>
                </a:solidFill>
                <a:latin typeface="Calibri (MS) Bold"/>
                <a:ea typeface="Calibri (MS) Bold"/>
                <a:cs typeface="Calibri (MS) Bold"/>
                <a:sym typeface="Calibri (MS) Bold"/>
              </a:rPr>
              <a:t>Existing methods, systems or alternatives</a:t>
            </a:r>
          </a:p>
          <a:p>
            <a:pPr marL="581039" lvl="1" indent="-290519" algn="l">
              <a:lnSpc>
                <a:spcPts val="3229"/>
              </a:lnSpc>
              <a:buFont typeface="Arial"/>
              <a:buChar char="•"/>
            </a:pPr>
            <a:r>
              <a:rPr lang="en-US" sz="2691">
                <a:solidFill>
                  <a:srgbClr val="0E2A2F"/>
                </a:solidFill>
                <a:latin typeface="Calibri (MS)"/>
                <a:ea typeface="Calibri (MS)"/>
                <a:cs typeface="Calibri (MS)"/>
                <a:sym typeface="Calibri (MS)"/>
              </a:rPr>
              <a:t>DNA Sequencing: Identifies genetic variations associated with diseases.</a:t>
            </a:r>
          </a:p>
          <a:p>
            <a:pPr marL="581039" lvl="1" indent="-290519" algn="l">
              <a:lnSpc>
                <a:spcPts val="3229"/>
              </a:lnSpc>
              <a:buFont typeface="Arial"/>
              <a:buChar char="•"/>
            </a:pPr>
            <a:r>
              <a:rPr lang="en-US" sz="2691">
                <a:solidFill>
                  <a:srgbClr val="0E2A2F"/>
                </a:solidFill>
                <a:latin typeface="Calibri (MS)"/>
                <a:ea typeface="Calibri (MS)"/>
                <a:cs typeface="Calibri (MS)"/>
                <a:sym typeface="Calibri (MS)"/>
              </a:rPr>
              <a:t>Traditional Diagnosis: Uses symptoms, medical history, and laboratory tests.</a:t>
            </a:r>
          </a:p>
          <a:p>
            <a:pPr marL="581039" lvl="1" indent="-290519" algn="l">
              <a:lnSpc>
                <a:spcPts val="3229"/>
              </a:lnSpc>
              <a:buFont typeface="Arial"/>
              <a:buChar char="•"/>
            </a:pPr>
            <a:r>
              <a:rPr lang="en-US" sz="2691">
                <a:solidFill>
                  <a:srgbClr val="0E2A2F"/>
                </a:solidFill>
                <a:latin typeface="Calibri (MS)"/>
                <a:ea typeface="Calibri (MS)"/>
                <a:cs typeface="Calibri (MS)"/>
                <a:sym typeface="Calibri (MS)"/>
              </a:rPr>
              <a:t>AI-Based Tools: Analyze genetic data to predict disease risks and drug responses.</a:t>
            </a:r>
          </a:p>
          <a:p>
            <a:pPr algn="l">
              <a:lnSpc>
                <a:spcPts val="3229"/>
              </a:lnSpc>
            </a:pPr>
            <a:endParaRPr lang="en-US" sz="2691">
              <a:solidFill>
                <a:srgbClr val="0E2A2F"/>
              </a:solidFill>
              <a:latin typeface="Calibri (MS)"/>
              <a:ea typeface="Calibri (MS)"/>
              <a:cs typeface="Calibri (MS)"/>
              <a:sym typeface="Calibri (MS)"/>
            </a:endParaRPr>
          </a:p>
          <a:p>
            <a:pPr algn="l">
              <a:lnSpc>
                <a:spcPts val="3229"/>
              </a:lnSpc>
            </a:pPr>
            <a:r>
              <a:rPr lang="en-US" sz="2691" b="1">
                <a:solidFill>
                  <a:srgbClr val="0E2A2F"/>
                </a:solidFill>
                <a:latin typeface="Calibri (MS) Bold"/>
                <a:ea typeface="Calibri (MS) Bold"/>
                <a:cs typeface="Calibri (MS) Bold"/>
                <a:sym typeface="Calibri (MS) Bold"/>
              </a:rPr>
              <a:t>Limitations of each</a:t>
            </a:r>
          </a:p>
          <a:p>
            <a:pPr marL="581039" lvl="1" indent="-290519" algn="l">
              <a:lnSpc>
                <a:spcPts val="3229"/>
              </a:lnSpc>
              <a:buFont typeface="Arial"/>
              <a:buChar char="•"/>
            </a:pPr>
            <a:r>
              <a:rPr lang="en-US" sz="2691">
                <a:solidFill>
                  <a:srgbClr val="0E2A2F"/>
                </a:solidFill>
                <a:latin typeface="Calibri (MS)"/>
                <a:ea typeface="Calibri (MS)"/>
                <a:cs typeface="Calibri (MS)"/>
                <a:sym typeface="Calibri (MS)"/>
              </a:rPr>
              <a:t>Genetic testing can be expensive and difficult to interpret.</a:t>
            </a:r>
          </a:p>
          <a:p>
            <a:pPr marL="581039" lvl="1" indent="-290519" algn="l">
              <a:lnSpc>
                <a:spcPts val="3229"/>
              </a:lnSpc>
              <a:buFont typeface="Arial"/>
              <a:buChar char="•"/>
            </a:pPr>
            <a:r>
              <a:rPr lang="en-US" sz="2691">
                <a:solidFill>
                  <a:srgbClr val="0E2A2F"/>
                </a:solidFill>
                <a:latin typeface="Calibri (MS)"/>
                <a:ea typeface="Calibri (MS)"/>
                <a:cs typeface="Calibri (MS)"/>
                <a:sym typeface="Calibri (MS)"/>
              </a:rPr>
              <a:t>Traditional diagnosis may not identify genetic risks early.</a:t>
            </a:r>
          </a:p>
          <a:p>
            <a:pPr marL="581039" lvl="1" indent="-290519" algn="l">
              <a:lnSpc>
                <a:spcPts val="3229"/>
              </a:lnSpc>
              <a:buFont typeface="Arial"/>
              <a:buChar char="•"/>
            </a:pPr>
            <a:r>
              <a:rPr lang="en-US" sz="2691">
                <a:solidFill>
                  <a:srgbClr val="0E2A2F"/>
                </a:solidFill>
                <a:latin typeface="Calibri (MS)"/>
                <a:ea typeface="Calibri (MS)"/>
                <a:cs typeface="Calibri (MS)"/>
                <a:sym typeface="Calibri (MS)"/>
              </a:rPr>
              <a:t>Existing AI tools may have limited accuracy due to insufficient or biased data.</a:t>
            </a:r>
          </a:p>
          <a:p>
            <a:pPr algn="l">
              <a:lnSpc>
                <a:spcPts val="3229"/>
              </a:lnSpc>
            </a:pPr>
            <a:endParaRPr lang="en-US" sz="2691">
              <a:solidFill>
                <a:srgbClr val="0E2A2F"/>
              </a:solidFill>
              <a:latin typeface="Calibri (MS)"/>
              <a:ea typeface="Calibri (MS)"/>
              <a:cs typeface="Calibri (MS)"/>
              <a:sym typeface="Calibri (MS)"/>
            </a:endParaRPr>
          </a:p>
          <a:p>
            <a:pPr algn="l">
              <a:lnSpc>
                <a:spcPts val="3229"/>
              </a:lnSpc>
            </a:pPr>
            <a:r>
              <a:rPr lang="en-US" sz="2691" b="1">
                <a:solidFill>
                  <a:srgbClr val="0E2A2F"/>
                </a:solidFill>
                <a:latin typeface="Calibri (MS) Bold"/>
                <a:ea typeface="Calibri (MS) Bold"/>
                <a:cs typeface="Calibri (MS) Bold"/>
                <a:sym typeface="Calibri (MS) Bold"/>
              </a:rPr>
              <a:t>The gap they leave open (Key Challenges)</a:t>
            </a:r>
          </a:p>
          <a:p>
            <a:pPr marL="581039" lvl="1" indent="-290519" algn="l">
              <a:lnSpc>
                <a:spcPts val="3229"/>
              </a:lnSpc>
              <a:buFont typeface="Arial"/>
              <a:buChar char="•"/>
            </a:pPr>
            <a:r>
              <a:rPr lang="en-US" sz="2691">
                <a:solidFill>
                  <a:srgbClr val="0E2A2F"/>
                </a:solidFill>
                <a:latin typeface="Calibri (MS)"/>
                <a:ea typeface="Calibri (MS)"/>
                <a:cs typeface="Calibri (MS)"/>
                <a:sym typeface="Calibri (MS)"/>
              </a:rPr>
              <a:t>Need for more accurate and early disease-risk prediction.</a:t>
            </a:r>
          </a:p>
          <a:p>
            <a:pPr marL="581039" lvl="1" indent="-290519" algn="l">
              <a:lnSpc>
                <a:spcPts val="3229"/>
              </a:lnSpc>
              <a:buFont typeface="Arial"/>
              <a:buChar char="•"/>
            </a:pPr>
            <a:r>
              <a:rPr lang="en-US" sz="2691">
                <a:solidFill>
                  <a:srgbClr val="0E2A2F"/>
                </a:solidFill>
                <a:latin typeface="Calibri (MS)"/>
                <a:ea typeface="Calibri (MS)"/>
                <a:cs typeface="Calibri (MS)"/>
                <a:sym typeface="Calibri (MS)"/>
              </a:rPr>
              <a:t>Limited personalization of treatments for every individual.</a:t>
            </a:r>
          </a:p>
          <a:p>
            <a:pPr marL="581039" lvl="1" indent="-290519" algn="l">
              <a:lnSpc>
                <a:spcPts val="3229"/>
              </a:lnSpc>
              <a:buFont typeface="Arial"/>
              <a:buChar char="•"/>
            </a:pPr>
            <a:r>
              <a:rPr lang="en-US" sz="2691">
                <a:solidFill>
                  <a:srgbClr val="0E2A2F"/>
                </a:solidFill>
                <a:latin typeface="Calibri (MS)"/>
                <a:ea typeface="Calibri (MS)"/>
                <a:cs typeface="Calibri (MS)"/>
                <a:sym typeface="Calibri (MS)"/>
              </a:rPr>
              <a:t>Need for an integrated AI system combining DNA analysis and patient health data.</a:t>
            </a:r>
          </a:p>
          <a:p>
            <a:pPr algn="l">
              <a:lnSpc>
                <a:spcPts val="3229"/>
              </a:lnSpc>
            </a:pPr>
            <a:endParaRPr lang="en-US" sz="2691">
              <a:solidFill>
                <a:srgbClr val="0E2A2F"/>
              </a:solidFill>
              <a:latin typeface="Calibri (MS)"/>
              <a:ea typeface="Calibri (MS)"/>
              <a:cs typeface="Calibri (MS)"/>
              <a:sym typeface="Calibri (MS)"/>
            </a:endParaRPr>
          </a:p>
          <a:p>
            <a:pPr algn="l">
              <a:lnSpc>
                <a:spcPts val="3229"/>
              </a:lnSpc>
            </a:pPr>
            <a:endParaRPr lang="en-US" sz="2691">
              <a:solidFill>
                <a:srgbClr val="0E2A2F"/>
              </a:solidFill>
              <a:latin typeface="Calibri (MS)"/>
              <a:ea typeface="Calibri (MS)"/>
              <a:cs typeface="Calibri (MS)"/>
              <a:sym typeface="Calibri (MS)"/>
            </a:endParaRPr>
          </a:p>
        </p:txBody>
      </p:sp>
      <p:grpSp>
        <p:nvGrpSpPr>
          <p:cNvPr id="39" name="Group 39"/>
          <p:cNvGrpSpPr/>
          <p:nvPr/>
        </p:nvGrpSpPr>
        <p:grpSpPr>
          <a:xfrm>
            <a:off x="16888511" y="9614916"/>
            <a:ext cx="685800" cy="593903"/>
            <a:chOff x="0" y="0"/>
            <a:chExt cx="914400" cy="791870"/>
          </a:xfrm>
        </p:grpSpPr>
        <p:sp>
          <p:nvSpPr>
            <p:cNvPr id="40" name="Freeform 40"/>
            <p:cNvSpPr/>
            <p:nvPr/>
          </p:nvSpPr>
          <p:spPr>
            <a:xfrm>
              <a:off x="0" y="0"/>
              <a:ext cx="914400" cy="791870"/>
            </a:xfrm>
            <a:custGeom>
              <a:avLst/>
              <a:gdLst/>
              <a:ahLst/>
              <a:cxnLst/>
              <a:rect l="l" t="t" r="r" b="b"/>
              <a:pathLst>
                <a:path w="914400" h="791870">
                  <a:moveTo>
                    <a:pt x="0" y="0"/>
                  </a:moveTo>
                  <a:lnTo>
                    <a:pt x="914400" y="0"/>
                  </a:lnTo>
                  <a:lnTo>
                    <a:pt x="914400" y="791870"/>
                  </a:lnTo>
                  <a:lnTo>
                    <a:pt x="0" y="791870"/>
                  </a:lnTo>
                  <a:close/>
                </a:path>
              </a:pathLst>
            </a:custGeom>
            <a:blipFill>
              <a:blip r:embed="rId4">
                <a:alphaModFix amt="0"/>
              </a:blip>
              <a:stretch>
                <a:fillRect l="-61110" r="-61110"/>
              </a:stretch>
            </a:blipFill>
          </p:spPr>
        </p:sp>
        <p:sp>
          <p:nvSpPr>
            <p:cNvPr id="41" name="TextBox 41"/>
            <p:cNvSpPr txBox="1"/>
            <p:nvPr/>
          </p:nvSpPr>
          <p:spPr>
            <a:xfrm>
              <a:off x="0" y="-28575"/>
              <a:ext cx="914400" cy="820445"/>
            </a:xfrm>
            <a:prstGeom prst="rect">
              <a:avLst/>
            </a:prstGeom>
          </p:spPr>
          <p:txBody>
            <a:bodyPr lIns="0" tIns="0" rIns="0" bIns="0" rtlCol="0" anchor="ctr"/>
            <a:lstStyle/>
            <a:p>
              <a:pPr algn="ctr">
                <a:lnSpc>
                  <a:spcPts val="1980"/>
                </a:lnSpc>
              </a:pPr>
              <a:r>
                <a:rPr lang="en-US" sz="1650" b="1">
                  <a:solidFill>
                    <a:srgbClr val="052B35"/>
                  </a:solidFill>
                  <a:latin typeface="Calibri (MS) Bold"/>
                  <a:ea typeface="Calibri (MS) Bold"/>
                  <a:cs typeface="Calibri (MS) Bold"/>
                  <a:sym typeface="Calibri (MS) Bold"/>
                </a:rPr>
                <a:t>6</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8F5"/>
        </a:solidFill>
        <a:effectLst/>
      </p:bgPr>
    </p:bg>
    <p:spTree>
      <p:nvGrpSpPr>
        <p:cNvPr id="1" name=""/>
        <p:cNvGrpSpPr/>
        <p:nvPr/>
      </p:nvGrpSpPr>
      <p:grpSpPr>
        <a:xfrm>
          <a:off x="0" y="0"/>
          <a:ext cx="0" cy="0"/>
          <a:chOff x="0" y="0"/>
          <a:chExt cx="0" cy="0"/>
        </a:xfrm>
      </p:grpSpPr>
      <p:grpSp>
        <p:nvGrpSpPr>
          <p:cNvPr id="2" name="Group 2"/>
          <p:cNvGrpSpPr/>
          <p:nvPr/>
        </p:nvGrpSpPr>
        <p:grpSpPr>
          <a:xfrm>
            <a:off x="16360159" y="472916"/>
            <a:ext cx="1248727" cy="1248727"/>
            <a:chOff x="0" y="0"/>
            <a:chExt cx="1664970" cy="1664970"/>
          </a:xfrm>
        </p:grpSpPr>
        <p:sp>
          <p:nvSpPr>
            <p:cNvPr id="3" name="Freeform 3"/>
            <p:cNvSpPr/>
            <p:nvPr/>
          </p:nvSpPr>
          <p:spPr>
            <a:xfrm>
              <a:off x="0" y="0"/>
              <a:ext cx="1664970" cy="1664970"/>
            </a:xfrm>
            <a:custGeom>
              <a:avLst/>
              <a:gdLst/>
              <a:ahLst/>
              <a:cxnLst/>
              <a:rect l="l" t="t" r="r" b="b"/>
              <a:pathLst>
                <a:path w="1664970" h="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4" name="Group 4"/>
          <p:cNvGrpSpPr/>
          <p:nvPr/>
        </p:nvGrpSpPr>
        <p:grpSpPr>
          <a:xfrm>
            <a:off x="16583920" y="576072"/>
            <a:ext cx="801195" cy="1042416"/>
            <a:chOff x="0" y="0"/>
            <a:chExt cx="1068260" cy="1389888"/>
          </a:xfrm>
        </p:grpSpPr>
        <p:sp>
          <p:nvSpPr>
            <p:cNvPr id="5" name="Freeform 5" descr="Genesis logo"/>
            <p:cNvSpPr/>
            <p:nvPr/>
          </p:nvSpPr>
          <p:spPr>
            <a:xfrm>
              <a:off x="0" y="0"/>
              <a:ext cx="1068324" cy="1389888"/>
            </a:xfrm>
            <a:custGeom>
              <a:avLst/>
              <a:gdLst/>
              <a:ahLst/>
              <a:cxnLst/>
              <a:rect l="l" t="t" r="r" b="b"/>
              <a:pathLst>
                <a:path w="1068324" h="1389888">
                  <a:moveTo>
                    <a:pt x="0" y="0"/>
                  </a:moveTo>
                  <a:lnTo>
                    <a:pt x="1068324" y="0"/>
                  </a:lnTo>
                  <a:lnTo>
                    <a:pt x="1068324" y="1389888"/>
                  </a:lnTo>
                  <a:lnTo>
                    <a:pt x="0" y="1389888"/>
                  </a:lnTo>
                  <a:lnTo>
                    <a:pt x="0" y="0"/>
                  </a:lnTo>
                  <a:close/>
                </a:path>
              </a:pathLst>
            </a:custGeom>
            <a:blipFill>
              <a:blip r:embed="rId3"/>
              <a:stretch>
                <a:fillRect r="5"/>
              </a:stretch>
            </a:blipFill>
          </p:spPr>
        </p:sp>
      </p:grpSp>
      <p:grpSp>
        <p:nvGrpSpPr>
          <p:cNvPr id="6" name="Group 6"/>
          <p:cNvGrpSpPr/>
          <p:nvPr/>
        </p:nvGrpSpPr>
        <p:grpSpPr>
          <a:xfrm>
            <a:off x="0" y="9532620"/>
            <a:ext cx="18287543" cy="754380"/>
            <a:chOff x="0" y="0"/>
            <a:chExt cx="24383390" cy="1005840"/>
          </a:xfrm>
        </p:grpSpPr>
        <p:sp>
          <p:nvSpPr>
            <p:cNvPr id="7" name="Freeform 7"/>
            <p:cNvSpPr/>
            <p:nvPr/>
          </p:nvSpPr>
          <p:spPr>
            <a:xfrm>
              <a:off x="0" y="0"/>
              <a:ext cx="24383364" cy="1005840"/>
            </a:xfrm>
            <a:custGeom>
              <a:avLst/>
              <a:gdLst/>
              <a:ahLst/>
              <a:cxnLst/>
              <a:rect l="l" t="t" r="r" b="b"/>
              <a:pathLst>
                <a:path w="24383364" h="1005840">
                  <a:moveTo>
                    <a:pt x="0" y="0"/>
                  </a:moveTo>
                  <a:lnTo>
                    <a:pt x="24383364" y="0"/>
                  </a:lnTo>
                  <a:lnTo>
                    <a:pt x="24383364" y="1005840"/>
                  </a:lnTo>
                  <a:lnTo>
                    <a:pt x="0" y="1005840"/>
                  </a:lnTo>
                  <a:close/>
                </a:path>
              </a:pathLst>
            </a:custGeom>
            <a:solidFill>
              <a:srgbClr val="052B35"/>
            </a:solidFill>
          </p:spPr>
        </p:sp>
      </p:grpSp>
      <p:grpSp>
        <p:nvGrpSpPr>
          <p:cNvPr id="8" name="Group 8"/>
          <p:cNvGrpSpPr/>
          <p:nvPr/>
        </p:nvGrpSpPr>
        <p:grpSpPr>
          <a:xfrm>
            <a:off x="3429000" y="9532620"/>
            <a:ext cx="11429543" cy="754380"/>
            <a:chOff x="0" y="0"/>
            <a:chExt cx="15239390" cy="1005840"/>
          </a:xfrm>
        </p:grpSpPr>
        <p:sp>
          <p:nvSpPr>
            <p:cNvPr id="9" name="Freeform 9"/>
            <p:cNvSpPr/>
            <p:nvPr/>
          </p:nvSpPr>
          <p:spPr>
            <a:xfrm>
              <a:off x="0" y="0"/>
              <a:ext cx="15239391" cy="1005840"/>
            </a:xfrm>
            <a:custGeom>
              <a:avLst/>
              <a:gdLst/>
              <a:ahLst/>
              <a:cxnLst/>
              <a:rect l="l" t="t" r="r" b="b"/>
              <a:pathLst>
                <a:path w="15239391" h="1005840">
                  <a:moveTo>
                    <a:pt x="0" y="0"/>
                  </a:moveTo>
                  <a:lnTo>
                    <a:pt x="15239391" y="0"/>
                  </a:lnTo>
                  <a:lnTo>
                    <a:pt x="15239391" y="1005840"/>
                  </a:lnTo>
                  <a:lnTo>
                    <a:pt x="0" y="1005840"/>
                  </a:lnTo>
                  <a:close/>
                </a:path>
              </a:pathLst>
            </a:custGeom>
            <a:blipFill>
              <a:blip r:embed="rId4">
                <a:alphaModFix amt="0"/>
              </a:blip>
              <a:stretch>
                <a:fillRect t="-245216" b="-245216"/>
              </a:stretch>
            </a:blipFill>
          </p:spPr>
        </p:sp>
        <p:sp>
          <p:nvSpPr>
            <p:cNvPr id="10" name="TextBox 10"/>
            <p:cNvSpPr txBox="1"/>
            <p:nvPr/>
          </p:nvSpPr>
          <p:spPr>
            <a:xfrm>
              <a:off x="0" y="-19050"/>
              <a:ext cx="15239390" cy="1024890"/>
            </a:xfrm>
            <a:prstGeom prst="rect">
              <a:avLst/>
            </a:prstGeom>
          </p:spPr>
          <p:txBody>
            <a:bodyPr lIns="0" tIns="0" rIns="0" bIns="0" rtlCol="0" anchor="ctr"/>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id="11" name="Group 11"/>
          <p:cNvGrpSpPr/>
          <p:nvPr/>
        </p:nvGrpSpPr>
        <p:grpSpPr>
          <a:xfrm>
            <a:off x="16888511" y="9614916"/>
            <a:ext cx="685800" cy="593903"/>
            <a:chOff x="0" y="0"/>
            <a:chExt cx="914400" cy="791870"/>
          </a:xfrm>
        </p:grpSpPr>
        <p:sp>
          <p:nvSpPr>
            <p:cNvPr id="12" name="Freeform 1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13" name="Group 13"/>
          <p:cNvGrpSpPr/>
          <p:nvPr/>
        </p:nvGrpSpPr>
        <p:grpSpPr>
          <a:xfrm rot="5400000">
            <a:off x="15903559" y="7017544"/>
            <a:ext cx="2161927" cy="1875473"/>
            <a:chOff x="0" y="0"/>
            <a:chExt cx="2882570" cy="2500630"/>
          </a:xfrm>
        </p:grpSpPr>
        <p:sp>
          <p:nvSpPr>
            <p:cNvPr id="14" name="Freeform 14"/>
            <p:cNvSpPr/>
            <p:nvPr/>
          </p:nvSpPr>
          <p:spPr>
            <a:xfrm>
              <a:off x="0" y="0"/>
              <a:ext cx="2882519" cy="2500630"/>
            </a:xfrm>
            <a:custGeom>
              <a:avLst/>
              <a:gdLst/>
              <a:ahLst/>
              <a:cxnLst/>
              <a:rect l="l" t="t" r="r" b="b"/>
              <a:pathLst>
                <a:path w="2882519" h="2500630">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r="-61306"/>
              </a:stretch>
            </a:blipFill>
            <a:ln w="23812" cap="sq">
              <a:solidFill>
                <a:srgbClr val="4FA278"/>
              </a:solidFill>
              <a:prstDash val="solid"/>
              <a:miter/>
            </a:ln>
          </p:spPr>
        </p:sp>
      </p:grpSp>
      <p:grpSp>
        <p:nvGrpSpPr>
          <p:cNvPr id="15" name="Group 15"/>
          <p:cNvGrpSpPr/>
          <p:nvPr/>
        </p:nvGrpSpPr>
        <p:grpSpPr>
          <a:xfrm rot="5400000">
            <a:off x="14613988" y="8011954"/>
            <a:ext cx="1449219" cy="1258252"/>
            <a:chOff x="0" y="0"/>
            <a:chExt cx="1932292" cy="1677670"/>
          </a:xfrm>
        </p:grpSpPr>
        <p:sp>
          <p:nvSpPr>
            <p:cNvPr id="16" name="Freeform 16"/>
            <p:cNvSpPr/>
            <p:nvPr/>
          </p:nvSpPr>
          <p:spPr>
            <a:xfrm>
              <a:off x="0" y="0"/>
              <a:ext cx="1932178" cy="1677670"/>
            </a:xfrm>
            <a:custGeom>
              <a:avLst/>
              <a:gdLst/>
              <a:ahLst/>
              <a:cxnLst/>
              <a:rect l="l" t="t" r="r" b="b"/>
              <a:pathLst>
                <a:path w="1932178" h="1677670">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r="-61406"/>
              </a:stretch>
            </a:blipFill>
            <a:ln w="23812" cap="sq">
              <a:solidFill>
                <a:srgbClr val="4FA278"/>
              </a:solidFill>
              <a:prstDash val="solid"/>
              <a:miter/>
            </a:ln>
          </p:spPr>
        </p:sp>
      </p:grpSp>
      <p:grpSp>
        <p:nvGrpSpPr>
          <p:cNvPr id="17" name="Group 17"/>
          <p:cNvGrpSpPr/>
          <p:nvPr/>
        </p:nvGrpSpPr>
        <p:grpSpPr>
          <a:xfrm rot="5400000">
            <a:off x="17357188" y="5748814"/>
            <a:ext cx="1449219" cy="1258252"/>
            <a:chOff x="0" y="0"/>
            <a:chExt cx="1932292" cy="1677670"/>
          </a:xfrm>
        </p:grpSpPr>
        <p:sp>
          <p:nvSpPr>
            <p:cNvPr id="18" name="Freeform 18"/>
            <p:cNvSpPr/>
            <p:nvPr/>
          </p:nvSpPr>
          <p:spPr>
            <a:xfrm>
              <a:off x="0" y="0"/>
              <a:ext cx="1932178" cy="1677670"/>
            </a:xfrm>
            <a:custGeom>
              <a:avLst/>
              <a:gdLst/>
              <a:ahLst/>
              <a:cxnLst/>
              <a:rect l="l" t="t" r="r" b="b"/>
              <a:pathLst>
                <a:path w="1932178" h="1677670">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r="-61406"/>
              </a:stretch>
            </a:blipFill>
            <a:ln w="23812" cap="sq">
              <a:solidFill>
                <a:srgbClr val="4FA278"/>
              </a:solidFill>
              <a:prstDash val="solid"/>
              <a:miter/>
            </a:ln>
          </p:spPr>
        </p:sp>
      </p:grpSp>
      <p:grpSp>
        <p:nvGrpSpPr>
          <p:cNvPr id="19" name="Group 19"/>
          <p:cNvGrpSpPr/>
          <p:nvPr/>
        </p:nvGrpSpPr>
        <p:grpSpPr>
          <a:xfrm>
            <a:off x="4869180" y="480060"/>
            <a:ext cx="11247120" cy="1234440"/>
            <a:chOff x="0" y="0"/>
            <a:chExt cx="14996160" cy="1645920"/>
          </a:xfrm>
        </p:grpSpPr>
        <p:sp>
          <p:nvSpPr>
            <p:cNvPr id="20" name="Freeform 20"/>
            <p:cNvSpPr/>
            <p:nvPr/>
          </p:nvSpPr>
          <p:spPr>
            <a:xfrm>
              <a:off x="0" y="0"/>
              <a:ext cx="14996161" cy="1645920"/>
            </a:xfrm>
            <a:custGeom>
              <a:avLst/>
              <a:gdLst/>
              <a:ahLst/>
              <a:cxnLst/>
              <a:rect l="l" t="t" r="r" b="b"/>
              <a:pathLst>
                <a:path w="14996161" h="1645920">
                  <a:moveTo>
                    <a:pt x="0" y="0"/>
                  </a:moveTo>
                  <a:lnTo>
                    <a:pt x="14996161" y="0"/>
                  </a:lnTo>
                  <a:lnTo>
                    <a:pt x="14996161" y="1645920"/>
                  </a:lnTo>
                  <a:lnTo>
                    <a:pt x="0" y="1645920"/>
                  </a:lnTo>
                  <a:close/>
                </a:path>
              </a:pathLst>
            </a:custGeom>
            <a:blipFill>
              <a:blip r:embed="rId4">
                <a:alphaModFix amt="0"/>
              </a:blip>
              <a:stretch>
                <a:fillRect t="-127530" b="-127530"/>
              </a:stretch>
            </a:blipFill>
          </p:spPr>
        </p:sp>
        <p:sp>
          <p:nvSpPr>
            <p:cNvPr id="21" name="TextBox 21"/>
            <p:cNvSpPr txBox="1"/>
            <p:nvPr/>
          </p:nvSpPr>
          <p:spPr>
            <a:xfrm>
              <a:off x="0" y="-19050"/>
              <a:ext cx="14996160" cy="1664970"/>
            </a:xfrm>
            <a:prstGeom prst="rect">
              <a:avLst/>
            </a:prstGeom>
          </p:spPr>
          <p:txBody>
            <a:bodyPr lIns="0" tIns="0" rIns="0" bIns="0" rtlCol="0" anchor="ctr"/>
            <a:lstStyle/>
            <a:p>
              <a:pPr algn="ctr">
                <a:lnSpc>
                  <a:spcPts val="4320"/>
                </a:lnSpc>
              </a:pPr>
              <a:r>
                <a:rPr lang="en-US" sz="3600" b="1" spc="150">
                  <a:solidFill>
                    <a:srgbClr val="052B35"/>
                  </a:solidFill>
                  <a:latin typeface="Cambria Bold"/>
                  <a:ea typeface="Cambria Bold"/>
                  <a:cs typeface="Cambria Bold"/>
                  <a:sym typeface="Cambria Bold"/>
                </a:rPr>
                <a:t>PROBLEM INSIGHTS &amp; OPPORTUNITY AREAS</a:t>
              </a:r>
            </a:p>
          </p:txBody>
        </p:sp>
      </p:grpSp>
      <p:grpSp>
        <p:nvGrpSpPr>
          <p:cNvPr id="22" name="Group 22"/>
          <p:cNvGrpSpPr/>
          <p:nvPr/>
        </p:nvGrpSpPr>
        <p:grpSpPr>
          <a:xfrm>
            <a:off x="678656" y="472916"/>
            <a:ext cx="3923347" cy="1248727"/>
            <a:chOff x="0" y="0"/>
            <a:chExt cx="5231130" cy="1664970"/>
          </a:xfrm>
        </p:grpSpPr>
        <p:sp>
          <p:nvSpPr>
            <p:cNvPr id="23" name="Freeform 23"/>
            <p:cNvSpPr/>
            <p:nvPr/>
          </p:nvSpPr>
          <p:spPr>
            <a:xfrm>
              <a:off x="0" y="0"/>
              <a:ext cx="5231130" cy="1664970"/>
            </a:xfrm>
            <a:custGeom>
              <a:avLst/>
              <a:gdLst/>
              <a:ahLst/>
              <a:cxnLst/>
              <a:rect l="l" t="t" r="r" b="b"/>
              <a:pathLst>
                <a:path w="5231130" h="166497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24" name="Group 24"/>
          <p:cNvGrpSpPr/>
          <p:nvPr/>
        </p:nvGrpSpPr>
        <p:grpSpPr>
          <a:xfrm>
            <a:off x="898112" y="678656"/>
            <a:ext cx="960692" cy="837248"/>
            <a:chOff x="0" y="0"/>
            <a:chExt cx="1280922" cy="1116330"/>
          </a:xfrm>
        </p:grpSpPr>
        <p:sp>
          <p:nvSpPr>
            <p:cNvPr id="25" name="Freeform 25"/>
            <p:cNvSpPr/>
            <p:nvPr/>
          </p:nvSpPr>
          <p:spPr>
            <a:xfrm>
              <a:off x="0" y="0"/>
              <a:ext cx="1280922" cy="1116330"/>
            </a:xfrm>
            <a:custGeom>
              <a:avLst/>
              <a:gdLst/>
              <a:ahLst/>
              <a:cxnLst/>
              <a:rect l="l" t="t" r="r" b="b"/>
              <a:pathLst>
                <a:path w="1280922" h="1116330">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id="26" name="Group 26"/>
          <p:cNvGrpSpPr/>
          <p:nvPr/>
        </p:nvGrpSpPr>
        <p:grpSpPr>
          <a:xfrm>
            <a:off x="1104138" y="822960"/>
            <a:ext cx="548640" cy="548640"/>
            <a:chOff x="0" y="0"/>
            <a:chExt cx="731520" cy="731520"/>
          </a:xfrm>
        </p:grpSpPr>
        <p:sp>
          <p:nvSpPr>
            <p:cNvPr id="27" name="Freeform 27" descr="Team icon"/>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5"/>
              <a:stretch>
                <a:fillRect/>
              </a:stretch>
            </a:blipFill>
          </p:spPr>
        </p:sp>
      </p:grpSp>
      <p:grpSp>
        <p:nvGrpSpPr>
          <p:cNvPr id="28" name="Group 28"/>
          <p:cNvGrpSpPr/>
          <p:nvPr/>
        </p:nvGrpSpPr>
        <p:grpSpPr>
          <a:xfrm>
            <a:off x="2057400" y="576072"/>
            <a:ext cx="2441448" cy="1042416"/>
            <a:chOff x="0" y="0"/>
            <a:chExt cx="3255264" cy="1389888"/>
          </a:xfrm>
        </p:grpSpPr>
        <p:sp>
          <p:nvSpPr>
            <p:cNvPr id="29" name="Freeform 29"/>
            <p:cNvSpPr/>
            <p:nvPr/>
          </p:nvSpPr>
          <p:spPr>
            <a:xfrm>
              <a:off x="0" y="0"/>
              <a:ext cx="3255264" cy="1389888"/>
            </a:xfrm>
            <a:custGeom>
              <a:avLst/>
              <a:gdLst/>
              <a:ahLst/>
              <a:cxnLst/>
              <a:rect l="l" t="t" r="r" b="b"/>
              <a:pathLst>
                <a:path w="3255264" h="1389888">
                  <a:moveTo>
                    <a:pt x="0" y="0"/>
                  </a:moveTo>
                  <a:lnTo>
                    <a:pt x="3255264" y="0"/>
                  </a:lnTo>
                  <a:lnTo>
                    <a:pt x="3255264" y="1389888"/>
                  </a:lnTo>
                  <a:lnTo>
                    <a:pt x="0" y="1389888"/>
                  </a:lnTo>
                  <a:close/>
                </a:path>
              </a:pathLst>
            </a:custGeom>
            <a:blipFill>
              <a:blip r:embed="rId4">
                <a:alphaModFix amt="0"/>
              </a:blip>
              <a:stretch>
                <a:fillRect l="-4781" r="-4781"/>
              </a:stretch>
            </a:blipFill>
          </p:spPr>
        </p:sp>
        <p:sp>
          <p:nvSpPr>
            <p:cNvPr id="30" name="TextBox 30"/>
            <p:cNvSpPr txBox="1"/>
            <p:nvPr/>
          </p:nvSpPr>
          <p:spPr>
            <a:xfrm>
              <a:off x="0" y="-28575"/>
              <a:ext cx="3255264" cy="1418463"/>
            </a:xfrm>
            <a:prstGeom prst="rect">
              <a:avLst/>
            </a:prstGeom>
          </p:spPr>
          <p:txBody>
            <a:bodyPr lIns="0" tIns="0" rIns="0" bIns="0" rtlCol="0" anchor="ctr"/>
            <a:lstStyle/>
            <a:p>
              <a:pPr algn="l">
                <a:lnSpc>
                  <a:spcPts val="1620"/>
                </a:lnSpc>
              </a:pPr>
              <a:r>
                <a:rPr lang="en-US" sz="1350" b="1" spc="449">
                  <a:solidFill>
                    <a:srgbClr val="5B6F6B"/>
                  </a:solidFill>
                  <a:latin typeface="Calibri (MS) Bold"/>
                  <a:ea typeface="Calibri (MS) Bold"/>
                  <a:cs typeface="Calibri (MS) Bold"/>
                  <a:sym typeface="Calibri (MS) Bold"/>
                </a:rPr>
                <a:t>TEAM</a:t>
              </a:r>
            </a:p>
            <a:p>
              <a:pPr algn="l">
                <a:lnSpc>
                  <a:spcPts val="2700"/>
                </a:lnSpc>
              </a:pPr>
              <a:r>
                <a:rPr lang="en-US" sz="2250" b="1" spc="749">
                  <a:solidFill>
                    <a:srgbClr val="026855"/>
                  </a:solidFill>
                  <a:latin typeface="Calibri (MS) Bold"/>
                  <a:ea typeface="Calibri (MS) Bold"/>
                  <a:cs typeface="Calibri (MS) Bold"/>
                  <a:sym typeface="Calibri (MS) Bold"/>
                </a:rPr>
                <a:t>AURA</a:t>
              </a:r>
            </a:p>
          </p:txBody>
        </p:sp>
      </p:grpSp>
      <p:grpSp>
        <p:nvGrpSpPr>
          <p:cNvPr id="31" name="Group 31"/>
          <p:cNvGrpSpPr/>
          <p:nvPr/>
        </p:nvGrpSpPr>
        <p:grpSpPr>
          <a:xfrm>
            <a:off x="822960" y="2194560"/>
            <a:ext cx="685800" cy="593903"/>
            <a:chOff x="0" y="0"/>
            <a:chExt cx="914400" cy="791870"/>
          </a:xfrm>
        </p:grpSpPr>
        <p:sp>
          <p:nvSpPr>
            <p:cNvPr id="32" name="Freeform 3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33" name="Group 33"/>
          <p:cNvGrpSpPr/>
          <p:nvPr/>
        </p:nvGrpSpPr>
        <p:grpSpPr>
          <a:xfrm>
            <a:off x="960120" y="2285086"/>
            <a:ext cx="411480" cy="411480"/>
            <a:chOff x="0" y="0"/>
            <a:chExt cx="548640" cy="548640"/>
          </a:xfrm>
        </p:grpSpPr>
        <p:sp>
          <p:nvSpPr>
            <p:cNvPr id="34" name="Freeform 34" descr="Lightbulb icon"/>
            <p:cNvSpPr/>
            <p:nvPr/>
          </p:nvSpPr>
          <p:spPr>
            <a:xfrm>
              <a:off x="0" y="0"/>
              <a:ext cx="548640" cy="548640"/>
            </a:xfrm>
            <a:custGeom>
              <a:avLst/>
              <a:gdLst/>
              <a:ahLst/>
              <a:cxnLst/>
              <a:rect l="l" t="t" r="r" b="b"/>
              <a:pathLst>
                <a:path w="548640" h="548640">
                  <a:moveTo>
                    <a:pt x="0" y="0"/>
                  </a:moveTo>
                  <a:lnTo>
                    <a:pt x="548640" y="0"/>
                  </a:lnTo>
                  <a:lnTo>
                    <a:pt x="548640" y="548640"/>
                  </a:lnTo>
                  <a:lnTo>
                    <a:pt x="0" y="548640"/>
                  </a:lnTo>
                  <a:lnTo>
                    <a:pt x="0" y="0"/>
                  </a:lnTo>
                  <a:close/>
                </a:path>
              </a:pathLst>
            </a:custGeom>
            <a:blipFill>
              <a:blip r:embed="rId6"/>
              <a:stretch>
                <a:fillRect/>
              </a:stretch>
            </a:blipFill>
          </p:spPr>
        </p:sp>
      </p:grpSp>
      <p:grpSp>
        <p:nvGrpSpPr>
          <p:cNvPr id="35" name="Group 35"/>
          <p:cNvGrpSpPr/>
          <p:nvPr/>
        </p:nvGrpSpPr>
        <p:grpSpPr>
          <a:xfrm>
            <a:off x="1755648" y="2125980"/>
            <a:ext cx="14401800" cy="754380"/>
            <a:chOff x="0" y="0"/>
            <a:chExt cx="19202400" cy="1005840"/>
          </a:xfrm>
        </p:grpSpPr>
        <p:sp>
          <p:nvSpPr>
            <p:cNvPr id="36" name="Freeform 36"/>
            <p:cNvSpPr/>
            <p:nvPr/>
          </p:nvSpPr>
          <p:spPr>
            <a:xfrm>
              <a:off x="0" y="0"/>
              <a:ext cx="19202400" cy="1005840"/>
            </a:xfrm>
            <a:custGeom>
              <a:avLst/>
              <a:gdLst/>
              <a:ahLst/>
              <a:cxnLst/>
              <a:rect l="l" t="t" r="r" b="b"/>
              <a:pathLst>
                <a:path w="19202400" h="1005840">
                  <a:moveTo>
                    <a:pt x="0" y="0"/>
                  </a:moveTo>
                  <a:lnTo>
                    <a:pt x="19202400" y="0"/>
                  </a:lnTo>
                  <a:lnTo>
                    <a:pt x="19202400" y="1005840"/>
                  </a:lnTo>
                  <a:lnTo>
                    <a:pt x="0" y="1005840"/>
                  </a:lnTo>
                  <a:close/>
                </a:path>
              </a:pathLst>
            </a:custGeom>
            <a:blipFill>
              <a:blip r:embed="rId4">
                <a:alphaModFix amt="0"/>
              </a:blip>
              <a:stretch>
                <a:fillRect t="-321987" b="-321987"/>
              </a:stretch>
            </a:blipFill>
          </p:spPr>
        </p:sp>
        <p:sp>
          <p:nvSpPr>
            <p:cNvPr id="37" name="TextBox 37"/>
            <p:cNvSpPr txBox="1"/>
            <p:nvPr/>
          </p:nvSpPr>
          <p:spPr>
            <a:xfrm>
              <a:off x="0" y="-57150"/>
              <a:ext cx="19202400" cy="1062990"/>
            </a:xfrm>
            <a:prstGeom prst="rect">
              <a:avLst/>
            </a:prstGeom>
          </p:spPr>
          <p:txBody>
            <a:bodyPr lIns="0" tIns="0" rIns="0" bIns="0" rtlCol="0" anchor="ctr"/>
            <a:lstStyle/>
            <a:p>
              <a:pPr algn="l">
                <a:lnSpc>
                  <a:spcPts val="3240"/>
                </a:lnSpc>
              </a:pPr>
              <a:r>
                <a:rPr lang="en-US" sz="2700" b="1">
                  <a:solidFill>
                    <a:srgbClr val="094542"/>
                  </a:solidFill>
                  <a:latin typeface="Calibri (MS) Bold"/>
                  <a:ea typeface="Calibri (MS) Bold"/>
                  <a:cs typeface="Calibri (MS) Bold"/>
                  <a:sym typeface="Calibri (MS) Bold"/>
                </a:rPr>
                <a:t>Resources required to solve the problem</a:t>
              </a:r>
            </a:p>
          </p:txBody>
        </p:sp>
      </p:grpSp>
      <p:sp>
        <p:nvSpPr>
          <p:cNvPr id="38" name="TextBox 38"/>
          <p:cNvSpPr txBox="1"/>
          <p:nvPr/>
        </p:nvSpPr>
        <p:spPr>
          <a:xfrm>
            <a:off x="1508760" y="2835469"/>
            <a:ext cx="15636240" cy="5791200"/>
          </a:xfrm>
          <a:prstGeom prst="rect">
            <a:avLst/>
          </a:prstGeom>
        </p:spPr>
        <p:txBody>
          <a:bodyPr lIns="0" tIns="0" rIns="0" bIns="0" rtlCol="0" anchor="t">
            <a:spAutoFit/>
          </a:bodyPr>
          <a:lstStyle/>
          <a:p>
            <a:pPr algn="l">
              <a:lnSpc>
                <a:spcPts val="3240"/>
              </a:lnSpc>
            </a:pPr>
            <a:r>
              <a:rPr lang="en-US" sz="2700" b="1">
                <a:solidFill>
                  <a:srgbClr val="0E2A2F"/>
                </a:solidFill>
                <a:latin typeface="Calibri (MS) Bold"/>
                <a:ea typeface="Calibri (MS) Bold"/>
                <a:cs typeface="Calibri (MS) Bold"/>
                <a:sym typeface="Calibri (MS) Bold"/>
              </a:rPr>
              <a:t>Hardware</a:t>
            </a:r>
          </a:p>
          <a:p>
            <a:pPr marL="488632" lvl="1" indent="-244316" algn="l">
              <a:lnSpc>
                <a:spcPts val="3240"/>
              </a:lnSpc>
              <a:buFont typeface="Arial"/>
              <a:buChar char="•"/>
            </a:pPr>
            <a:r>
              <a:rPr lang="en-US" sz="2700">
                <a:solidFill>
                  <a:srgbClr val="0E2A2F"/>
                </a:solidFill>
                <a:latin typeface="Calibri (MS)"/>
                <a:ea typeface="Calibri (MS)"/>
                <a:cs typeface="Calibri (MS)"/>
                <a:sym typeface="Calibri (MS)"/>
              </a:rPr>
              <a:t>GPU workstation or cloud GPUs (NVIDIA A100 or RTX class) for model training</a:t>
            </a:r>
          </a:p>
          <a:p>
            <a:pPr marL="488632" lvl="1" indent="-244316" algn="l">
              <a:lnSpc>
                <a:spcPts val="3240"/>
              </a:lnSpc>
              <a:buFont typeface="Arial"/>
              <a:buChar char="•"/>
            </a:pPr>
            <a:r>
              <a:rPr lang="en-US" sz="2700">
                <a:solidFill>
                  <a:srgbClr val="0E2A2F"/>
                </a:solidFill>
                <a:latin typeface="Calibri (MS)"/>
                <a:ea typeface="Calibri (MS)"/>
                <a:cs typeface="Calibri (MS)"/>
                <a:sym typeface="Calibri (MS)"/>
              </a:rPr>
              <a:t>High-capacity storage and secure servers for genomic data</a:t>
            </a:r>
          </a:p>
          <a:p>
            <a:pPr marL="488632" lvl="1" indent="-244316" algn="l">
              <a:lnSpc>
                <a:spcPts val="3240"/>
              </a:lnSpc>
              <a:buFont typeface="Arial"/>
              <a:buChar char="•"/>
            </a:pPr>
            <a:r>
              <a:rPr lang="en-US" sz="2700">
                <a:solidFill>
                  <a:srgbClr val="0E2A2F"/>
                </a:solidFill>
                <a:latin typeface="Calibri (MS)"/>
                <a:ea typeface="Calibri (MS)"/>
                <a:cs typeface="Calibri (MS)"/>
                <a:sym typeface="Calibri (MS)"/>
              </a:rPr>
              <a:t>Access to a DNA sequencing facility (partner lab) for real samples</a:t>
            </a:r>
          </a:p>
          <a:p>
            <a:pPr algn="l">
              <a:lnSpc>
                <a:spcPts val="3240"/>
              </a:lnSpc>
            </a:pPr>
            <a:r>
              <a:rPr lang="en-US" sz="2700" b="1">
                <a:solidFill>
                  <a:srgbClr val="0E2A2F"/>
                </a:solidFill>
                <a:latin typeface="Calibri (MS) Bold"/>
                <a:ea typeface="Calibri (MS) Bold"/>
                <a:cs typeface="Calibri (MS) Bold"/>
                <a:sym typeface="Calibri (MS) Bold"/>
              </a:rPr>
              <a:t>Software</a:t>
            </a:r>
          </a:p>
          <a:p>
            <a:pPr marL="488632" lvl="1" indent="-244316" algn="l">
              <a:lnSpc>
                <a:spcPts val="3240"/>
              </a:lnSpc>
              <a:buFont typeface="Arial"/>
              <a:buChar char="•"/>
            </a:pPr>
            <a:r>
              <a:rPr lang="en-US" sz="2700">
                <a:solidFill>
                  <a:srgbClr val="0E2A2F"/>
                </a:solidFill>
                <a:latin typeface="Calibri (MS)"/>
                <a:ea typeface="Calibri (MS)"/>
                <a:cs typeface="Calibri (MS)"/>
                <a:sym typeface="Calibri (MS)"/>
              </a:rPr>
              <a:t>Python, PyTorch or TensorFlow for the AI models</a:t>
            </a:r>
          </a:p>
          <a:p>
            <a:pPr marL="488632" lvl="1" indent="-244316" algn="l">
              <a:lnSpc>
                <a:spcPts val="3240"/>
              </a:lnSpc>
              <a:buFont typeface="Arial"/>
              <a:buChar char="•"/>
            </a:pPr>
            <a:r>
              <a:rPr lang="en-US" sz="2700">
                <a:solidFill>
                  <a:srgbClr val="0E2A2F"/>
                </a:solidFill>
                <a:latin typeface="Calibri (MS)"/>
                <a:ea typeface="Calibri (MS)"/>
                <a:cs typeface="Calibri (MS)"/>
                <a:sym typeface="Calibri (MS)"/>
              </a:rPr>
              <a:t>Bioinformatics tools (Biopython, GATK, samtools) for processing DNA data</a:t>
            </a:r>
          </a:p>
          <a:p>
            <a:pPr marL="488632" lvl="1" indent="-244316" algn="l">
              <a:lnSpc>
                <a:spcPts val="3240"/>
              </a:lnSpc>
              <a:buFont typeface="Arial"/>
              <a:buChar char="•"/>
            </a:pPr>
            <a:r>
              <a:rPr lang="en-US" sz="2700">
                <a:solidFill>
                  <a:srgbClr val="0E2A2F"/>
                </a:solidFill>
                <a:latin typeface="Calibri (MS)"/>
                <a:ea typeface="Calibri (MS)"/>
                <a:cs typeface="Calibri (MS)"/>
                <a:sym typeface="Calibri (MS)"/>
              </a:rPr>
              <a:t>Public databases: ClinVar, 1000 Genomes, GenomeAsia, PharmGKB</a:t>
            </a:r>
          </a:p>
          <a:p>
            <a:pPr marL="488632" lvl="1" indent="-244316" algn="l">
              <a:lnSpc>
                <a:spcPts val="3240"/>
              </a:lnSpc>
              <a:buFont typeface="Arial"/>
              <a:buChar char="•"/>
            </a:pPr>
            <a:r>
              <a:rPr lang="en-US" sz="2700">
                <a:solidFill>
                  <a:srgbClr val="0E2A2F"/>
                </a:solidFill>
                <a:latin typeface="Calibri (MS)"/>
                <a:ea typeface="Calibri (MS)"/>
                <a:cs typeface="Calibri (MS)"/>
                <a:sym typeface="Calibri (MS)"/>
              </a:rPr>
              <a:t>Web dashboard (React or Flask) for doctors to view reports</a:t>
            </a:r>
          </a:p>
          <a:p>
            <a:pPr marL="488632" lvl="1" indent="-244316" algn="l">
              <a:lnSpc>
                <a:spcPts val="3240"/>
              </a:lnSpc>
              <a:buFont typeface="Arial"/>
              <a:buChar char="•"/>
            </a:pPr>
            <a:r>
              <a:rPr lang="en-US" sz="2700">
                <a:solidFill>
                  <a:srgbClr val="0E2A2F"/>
                </a:solidFill>
                <a:latin typeface="Calibri (MS)"/>
                <a:ea typeface="Calibri (MS)"/>
                <a:cs typeface="Calibri (MS)"/>
                <a:sym typeface="Calibri (MS)"/>
              </a:rPr>
              <a:t>Encryption and federated learning tools for data privacy</a:t>
            </a:r>
          </a:p>
          <a:p>
            <a:pPr algn="l">
              <a:lnSpc>
                <a:spcPts val="3240"/>
              </a:lnSpc>
            </a:pPr>
            <a:r>
              <a:rPr lang="en-US" sz="2700" b="1">
                <a:solidFill>
                  <a:srgbClr val="0E2A2F"/>
                </a:solidFill>
                <a:latin typeface="Calibri (MS) Bold"/>
                <a:ea typeface="Calibri (MS) Bold"/>
                <a:cs typeface="Calibri (MS) Bold"/>
                <a:sym typeface="Calibri (MS) Bold"/>
              </a:rPr>
              <a:t>Other resources</a:t>
            </a:r>
          </a:p>
          <a:p>
            <a:pPr marL="488632" lvl="1" indent="-244316" algn="l">
              <a:lnSpc>
                <a:spcPts val="3240"/>
              </a:lnSpc>
              <a:buFont typeface="Arial"/>
              <a:buChar char="•"/>
            </a:pPr>
            <a:r>
              <a:rPr lang="en-US" sz="2700">
                <a:solidFill>
                  <a:srgbClr val="0E2A2F"/>
                </a:solidFill>
                <a:latin typeface="Calibri (MS)"/>
                <a:ea typeface="Calibri (MS)"/>
                <a:cs typeface="Calibri (MS)"/>
                <a:sym typeface="Calibri (MS)"/>
              </a:rPr>
              <a:t>Hospital or lab partnership for validation data</a:t>
            </a:r>
          </a:p>
          <a:p>
            <a:pPr marL="488632" lvl="1" indent="-244316" algn="l">
              <a:lnSpc>
                <a:spcPts val="3240"/>
              </a:lnSpc>
              <a:buFont typeface="Arial"/>
              <a:buChar char="•"/>
            </a:pPr>
            <a:r>
              <a:rPr lang="en-US" sz="2700">
                <a:solidFill>
                  <a:srgbClr val="0E2A2F"/>
                </a:solidFill>
                <a:latin typeface="Calibri (MS)"/>
                <a:ea typeface="Calibri (MS)"/>
                <a:cs typeface="Calibri (MS)"/>
                <a:sym typeface="Calibri (MS)"/>
              </a:rPr>
              <a:t>Ethics and data-privacy approval, plus funding for compute and sequencing</a:t>
            </a:r>
          </a:p>
          <a:p>
            <a:pPr algn="l">
              <a:lnSpc>
                <a:spcPts val="3240"/>
              </a:lnSpc>
            </a:pPr>
            <a:endParaRPr lang="en-US" sz="2700">
              <a:solidFill>
                <a:srgbClr val="0E2A2F"/>
              </a:solidFill>
              <a:latin typeface="Calibri (MS)"/>
              <a:ea typeface="Calibri (MS)"/>
              <a:cs typeface="Calibri (MS)"/>
              <a:sym typeface="Calibri (MS)"/>
            </a:endParaRPr>
          </a:p>
        </p:txBody>
      </p:sp>
      <p:grpSp>
        <p:nvGrpSpPr>
          <p:cNvPr id="39" name="Group 39"/>
          <p:cNvGrpSpPr/>
          <p:nvPr/>
        </p:nvGrpSpPr>
        <p:grpSpPr>
          <a:xfrm>
            <a:off x="16888511" y="9614916"/>
            <a:ext cx="685800" cy="593903"/>
            <a:chOff x="0" y="0"/>
            <a:chExt cx="914400" cy="791870"/>
          </a:xfrm>
        </p:grpSpPr>
        <p:sp>
          <p:nvSpPr>
            <p:cNvPr id="40" name="Freeform 40"/>
            <p:cNvSpPr/>
            <p:nvPr/>
          </p:nvSpPr>
          <p:spPr>
            <a:xfrm>
              <a:off x="0" y="0"/>
              <a:ext cx="914400" cy="791870"/>
            </a:xfrm>
            <a:custGeom>
              <a:avLst/>
              <a:gdLst/>
              <a:ahLst/>
              <a:cxnLst/>
              <a:rect l="l" t="t" r="r" b="b"/>
              <a:pathLst>
                <a:path w="914400" h="791870">
                  <a:moveTo>
                    <a:pt x="0" y="0"/>
                  </a:moveTo>
                  <a:lnTo>
                    <a:pt x="914400" y="0"/>
                  </a:lnTo>
                  <a:lnTo>
                    <a:pt x="914400" y="791870"/>
                  </a:lnTo>
                  <a:lnTo>
                    <a:pt x="0" y="791870"/>
                  </a:lnTo>
                  <a:close/>
                </a:path>
              </a:pathLst>
            </a:custGeom>
            <a:blipFill>
              <a:blip r:embed="rId4">
                <a:alphaModFix amt="0"/>
              </a:blip>
              <a:stretch>
                <a:fillRect l="-61110" r="-61110"/>
              </a:stretch>
            </a:blipFill>
          </p:spPr>
        </p:sp>
        <p:sp>
          <p:nvSpPr>
            <p:cNvPr id="41" name="TextBox 41"/>
            <p:cNvSpPr txBox="1"/>
            <p:nvPr/>
          </p:nvSpPr>
          <p:spPr>
            <a:xfrm>
              <a:off x="0" y="-28575"/>
              <a:ext cx="914400" cy="820445"/>
            </a:xfrm>
            <a:prstGeom prst="rect">
              <a:avLst/>
            </a:prstGeom>
          </p:spPr>
          <p:txBody>
            <a:bodyPr lIns="0" tIns="0" rIns="0" bIns="0" rtlCol="0" anchor="ctr"/>
            <a:lstStyle/>
            <a:p>
              <a:pPr algn="ctr">
                <a:lnSpc>
                  <a:spcPts val="1980"/>
                </a:lnSpc>
              </a:pPr>
              <a:r>
                <a:rPr lang="en-US" sz="1650" b="1">
                  <a:solidFill>
                    <a:srgbClr val="052B35"/>
                  </a:solidFill>
                  <a:latin typeface="Calibri (MS) Bold"/>
                  <a:ea typeface="Calibri (MS) Bold"/>
                  <a:cs typeface="Calibri (MS) Bold"/>
                  <a:sym typeface="Calibri (MS) Bold"/>
                </a:rPr>
                <a:t>7</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8F5"/>
        </a:solidFill>
        <a:effectLst/>
      </p:bgPr>
    </p:bg>
    <p:spTree>
      <p:nvGrpSpPr>
        <p:cNvPr id="1" name=""/>
        <p:cNvGrpSpPr/>
        <p:nvPr/>
      </p:nvGrpSpPr>
      <p:grpSpPr>
        <a:xfrm>
          <a:off x="0" y="0"/>
          <a:ext cx="0" cy="0"/>
          <a:chOff x="0" y="0"/>
          <a:chExt cx="0" cy="0"/>
        </a:xfrm>
      </p:grpSpPr>
      <p:grpSp>
        <p:nvGrpSpPr>
          <p:cNvPr id="2" name="Group 2"/>
          <p:cNvGrpSpPr/>
          <p:nvPr/>
        </p:nvGrpSpPr>
        <p:grpSpPr>
          <a:xfrm>
            <a:off x="16360159" y="472916"/>
            <a:ext cx="1248727" cy="1248727"/>
            <a:chOff x="0" y="0"/>
            <a:chExt cx="1664970" cy="1664970"/>
          </a:xfrm>
        </p:grpSpPr>
        <p:sp>
          <p:nvSpPr>
            <p:cNvPr id="3" name="Freeform 3"/>
            <p:cNvSpPr/>
            <p:nvPr/>
          </p:nvSpPr>
          <p:spPr>
            <a:xfrm>
              <a:off x="0" y="0"/>
              <a:ext cx="1664970" cy="1664970"/>
            </a:xfrm>
            <a:custGeom>
              <a:avLst/>
              <a:gdLst/>
              <a:ahLst/>
              <a:cxnLst/>
              <a:rect l="l" t="t" r="r" b="b"/>
              <a:pathLst>
                <a:path w="1664970" h="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4" name="Group 4"/>
          <p:cNvGrpSpPr/>
          <p:nvPr/>
        </p:nvGrpSpPr>
        <p:grpSpPr>
          <a:xfrm>
            <a:off x="16583920" y="576072"/>
            <a:ext cx="801195" cy="1042416"/>
            <a:chOff x="0" y="0"/>
            <a:chExt cx="1068260" cy="1389888"/>
          </a:xfrm>
        </p:grpSpPr>
        <p:sp>
          <p:nvSpPr>
            <p:cNvPr id="5" name="Freeform 5" descr="Genesis logo"/>
            <p:cNvSpPr/>
            <p:nvPr/>
          </p:nvSpPr>
          <p:spPr>
            <a:xfrm>
              <a:off x="0" y="0"/>
              <a:ext cx="1068324" cy="1389888"/>
            </a:xfrm>
            <a:custGeom>
              <a:avLst/>
              <a:gdLst/>
              <a:ahLst/>
              <a:cxnLst/>
              <a:rect l="l" t="t" r="r" b="b"/>
              <a:pathLst>
                <a:path w="1068324" h="1389888">
                  <a:moveTo>
                    <a:pt x="0" y="0"/>
                  </a:moveTo>
                  <a:lnTo>
                    <a:pt x="1068324" y="0"/>
                  </a:lnTo>
                  <a:lnTo>
                    <a:pt x="1068324" y="1389888"/>
                  </a:lnTo>
                  <a:lnTo>
                    <a:pt x="0" y="1389888"/>
                  </a:lnTo>
                  <a:lnTo>
                    <a:pt x="0" y="0"/>
                  </a:lnTo>
                  <a:close/>
                </a:path>
              </a:pathLst>
            </a:custGeom>
            <a:blipFill>
              <a:blip r:embed="rId3"/>
              <a:stretch>
                <a:fillRect r="5"/>
              </a:stretch>
            </a:blipFill>
          </p:spPr>
        </p:sp>
      </p:grpSp>
      <p:grpSp>
        <p:nvGrpSpPr>
          <p:cNvPr id="6" name="Group 6"/>
          <p:cNvGrpSpPr/>
          <p:nvPr/>
        </p:nvGrpSpPr>
        <p:grpSpPr>
          <a:xfrm>
            <a:off x="0" y="9532620"/>
            <a:ext cx="18287543" cy="754380"/>
            <a:chOff x="0" y="0"/>
            <a:chExt cx="24383390" cy="1005840"/>
          </a:xfrm>
        </p:grpSpPr>
        <p:sp>
          <p:nvSpPr>
            <p:cNvPr id="7" name="Freeform 7"/>
            <p:cNvSpPr/>
            <p:nvPr/>
          </p:nvSpPr>
          <p:spPr>
            <a:xfrm>
              <a:off x="0" y="0"/>
              <a:ext cx="24383364" cy="1005840"/>
            </a:xfrm>
            <a:custGeom>
              <a:avLst/>
              <a:gdLst/>
              <a:ahLst/>
              <a:cxnLst/>
              <a:rect l="l" t="t" r="r" b="b"/>
              <a:pathLst>
                <a:path w="24383364" h="1005840">
                  <a:moveTo>
                    <a:pt x="0" y="0"/>
                  </a:moveTo>
                  <a:lnTo>
                    <a:pt x="24383364" y="0"/>
                  </a:lnTo>
                  <a:lnTo>
                    <a:pt x="24383364" y="1005840"/>
                  </a:lnTo>
                  <a:lnTo>
                    <a:pt x="0" y="1005840"/>
                  </a:lnTo>
                  <a:close/>
                </a:path>
              </a:pathLst>
            </a:custGeom>
            <a:solidFill>
              <a:srgbClr val="052B35"/>
            </a:solidFill>
          </p:spPr>
        </p:sp>
      </p:grpSp>
      <p:grpSp>
        <p:nvGrpSpPr>
          <p:cNvPr id="8" name="Group 8"/>
          <p:cNvGrpSpPr/>
          <p:nvPr/>
        </p:nvGrpSpPr>
        <p:grpSpPr>
          <a:xfrm>
            <a:off x="3429000" y="9532620"/>
            <a:ext cx="11429543" cy="754380"/>
            <a:chOff x="0" y="0"/>
            <a:chExt cx="15239390" cy="1005840"/>
          </a:xfrm>
        </p:grpSpPr>
        <p:sp>
          <p:nvSpPr>
            <p:cNvPr id="9" name="Freeform 9"/>
            <p:cNvSpPr/>
            <p:nvPr/>
          </p:nvSpPr>
          <p:spPr>
            <a:xfrm>
              <a:off x="0" y="0"/>
              <a:ext cx="15239391" cy="1005840"/>
            </a:xfrm>
            <a:custGeom>
              <a:avLst/>
              <a:gdLst/>
              <a:ahLst/>
              <a:cxnLst/>
              <a:rect l="l" t="t" r="r" b="b"/>
              <a:pathLst>
                <a:path w="15239391" h="1005840">
                  <a:moveTo>
                    <a:pt x="0" y="0"/>
                  </a:moveTo>
                  <a:lnTo>
                    <a:pt x="15239391" y="0"/>
                  </a:lnTo>
                  <a:lnTo>
                    <a:pt x="15239391" y="1005840"/>
                  </a:lnTo>
                  <a:lnTo>
                    <a:pt x="0" y="1005840"/>
                  </a:lnTo>
                  <a:close/>
                </a:path>
              </a:pathLst>
            </a:custGeom>
            <a:blipFill>
              <a:blip r:embed="rId4">
                <a:alphaModFix amt="0"/>
              </a:blip>
              <a:stretch>
                <a:fillRect t="-245216" b="-245216"/>
              </a:stretch>
            </a:blipFill>
          </p:spPr>
        </p:sp>
        <p:sp>
          <p:nvSpPr>
            <p:cNvPr id="10" name="TextBox 10"/>
            <p:cNvSpPr txBox="1"/>
            <p:nvPr/>
          </p:nvSpPr>
          <p:spPr>
            <a:xfrm>
              <a:off x="0" y="-19050"/>
              <a:ext cx="15239390" cy="1024890"/>
            </a:xfrm>
            <a:prstGeom prst="rect">
              <a:avLst/>
            </a:prstGeom>
          </p:spPr>
          <p:txBody>
            <a:bodyPr lIns="0" tIns="0" rIns="0" bIns="0" rtlCol="0" anchor="ctr"/>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id="11" name="Group 11"/>
          <p:cNvGrpSpPr/>
          <p:nvPr/>
        </p:nvGrpSpPr>
        <p:grpSpPr>
          <a:xfrm>
            <a:off x="16888511" y="9614916"/>
            <a:ext cx="685800" cy="593903"/>
            <a:chOff x="0" y="0"/>
            <a:chExt cx="914400" cy="791870"/>
          </a:xfrm>
        </p:grpSpPr>
        <p:sp>
          <p:nvSpPr>
            <p:cNvPr id="12" name="Freeform 1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13" name="Group 13"/>
          <p:cNvGrpSpPr/>
          <p:nvPr/>
        </p:nvGrpSpPr>
        <p:grpSpPr>
          <a:xfrm rot="5400000">
            <a:off x="15903559" y="7017544"/>
            <a:ext cx="2161927" cy="1875473"/>
            <a:chOff x="0" y="0"/>
            <a:chExt cx="2882570" cy="2500630"/>
          </a:xfrm>
        </p:grpSpPr>
        <p:sp>
          <p:nvSpPr>
            <p:cNvPr id="14" name="Freeform 14"/>
            <p:cNvSpPr/>
            <p:nvPr/>
          </p:nvSpPr>
          <p:spPr>
            <a:xfrm>
              <a:off x="0" y="0"/>
              <a:ext cx="2882519" cy="2500630"/>
            </a:xfrm>
            <a:custGeom>
              <a:avLst/>
              <a:gdLst/>
              <a:ahLst/>
              <a:cxnLst/>
              <a:rect l="l" t="t" r="r" b="b"/>
              <a:pathLst>
                <a:path w="2882519" h="2500630">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r="-61306"/>
              </a:stretch>
            </a:blipFill>
            <a:ln w="23812" cap="sq">
              <a:solidFill>
                <a:srgbClr val="4FA278"/>
              </a:solidFill>
              <a:prstDash val="solid"/>
              <a:miter/>
            </a:ln>
          </p:spPr>
        </p:sp>
      </p:grpSp>
      <p:grpSp>
        <p:nvGrpSpPr>
          <p:cNvPr id="15" name="Group 15"/>
          <p:cNvGrpSpPr/>
          <p:nvPr/>
        </p:nvGrpSpPr>
        <p:grpSpPr>
          <a:xfrm rot="5400000">
            <a:off x="14613988" y="8011954"/>
            <a:ext cx="1449219" cy="1258252"/>
            <a:chOff x="0" y="0"/>
            <a:chExt cx="1932292" cy="1677670"/>
          </a:xfrm>
        </p:grpSpPr>
        <p:sp>
          <p:nvSpPr>
            <p:cNvPr id="16" name="Freeform 16"/>
            <p:cNvSpPr/>
            <p:nvPr/>
          </p:nvSpPr>
          <p:spPr>
            <a:xfrm>
              <a:off x="0" y="0"/>
              <a:ext cx="1932178" cy="1677670"/>
            </a:xfrm>
            <a:custGeom>
              <a:avLst/>
              <a:gdLst/>
              <a:ahLst/>
              <a:cxnLst/>
              <a:rect l="l" t="t" r="r" b="b"/>
              <a:pathLst>
                <a:path w="1932178" h="1677670">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r="-61406"/>
              </a:stretch>
            </a:blipFill>
            <a:ln w="23812" cap="sq">
              <a:solidFill>
                <a:srgbClr val="4FA278"/>
              </a:solidFill>
              <a:prstDash val="solid"/>
              <a:miter/>
            </a:ln>
          </p:spPr>
        </p:sp>
      </p:grpSp>
      <p:grpSp>
        <p:nvGrpSpPr>
          <p:cNvPr id="17" name="Group 17"/>
          <p:cNvGrpSpPr/>
          <p:nvPr/>
        </p:nvGrpSpPr>
        <p:grpSpPr>
          <a:xfrm rot="5400000">
            <a:off x="17357188" y="5748814"/>
            <a:ext cx="1449219" cy="1258252"/>
            <a:chOff x="0" y="0"/>
            <a:chExt cx="1932292" cy="1677670"/>
          </a:xfrm>
        </p:grpSpPr>
        <p:sp>
          <p:nvSpPr>
            <p:cNvPr id="18" name="Freeform 18"/>
            <p:cNvSpPr/>
            <p:nvPr/>
          </p:nvSpPr>
          <p:spPr>
            <a:xfrm>
              <a:off x="0" y="0"/>
              <a:ext cx="1932178" cy="1677670"/>
            </a:xfrm>
            <a:custGeom>
              <a:avLst/>
              <a:gdLst/>
              <a:ahLst/>
              <a:cxnLst/>
              <a:rect l="l" t="t" r="r" b="b"/>
              <a:pathLst>
                <a:path w="1932178" h="1677670">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r="-61406"/>
              </a:stretch>
            </a:blipFill>
            <a:ln w="23812" cap="sq">
              <a:solidFill>
                <a:srgbClr val="4FA278"/>
              </a:solidFill>
              <a:prstDash val="solid"/>
              <a:miter/>
            </a:ln>
          </p:spPr>
        </p:sp>
      </p:grpSp>
      <p:grpSp>
        <p:nvGrpSpPr>
          <p:cNvPr id="19" name="Group 19"/>
          <p:cNvGrpSpPr/>
          <p:nvPr/>
        </p:nvGrpSpPr>
        <p:grpSpPr>
          <a:xfrm>
            <a:off x="4869180" y="480060"/>
            <a:ext cx="11247120" cy="1234440"/>
            <a:chOff x="0" y="0"/>
            <a:chExt cx="14996160" cy="1645920"/>
          </a:xfrm>
        </p:grpSpPr>
        <p:sp>
          <p:nvSpPr>
            <p:cNvPr id="20" name="Freeform 20"/>
            <p:cNvSpPr/>
            <p:nvPr/>
          </p:nvSpPr>
          <p:spPr>
            <a:xfrm>
              <a:off x="0" y="0"/>
              <a:ext cx="14996161" cy="1645920"/>
            </a:xfrm>
            <a:custGeom>
              <a:avLst/>
              <a:gdLst/>
              <a:ahLst/>
              <a:cxnLst/>
              <a:rect l="l" t="t" r="r" b="b"/>
              <a:pathLst>
                <a:path w="14996161" h="1645920">
                  <a:moveTo>
                    <a:pt x="0" y="0"/>
                  </a:moveTo>
                  <a:lnTo>
                    <a:pt x="14996161" y="0"/>
                  </a:lnTo>
                  <a:lnTo>
                    <a:pt x="14996161" y="1645920"/>
                  </a:lnTo>
                  <a:lnTo>
                    <a:pt x="0" y="1645920"/>
                  </a:lnTo>
                  <a:close/>
                </a:path>
              </a:pathLst>
            </a:custGeom>
            <a:blipFill>
              <a:blip r:embed="rId4">
                <a:alphaModFix amt="0"/>
              </a:blip>
              <a:stretch>
                <a:fillRect t="-127530" b="-127530"/>
              </a:stretch>
            </a:blipFill>
          </p:spPr>
        </p:sp>
        <p:sp>
          <p:nvSpPr>
            <p:cNvPr id="21" name="TextBox 21"/>
            <p:cNvSpPr txBox="1"/>
            <p:nvPr/>
          </p:nvSpPr>
          <p:spPr>
            <a:xfrm>
              <a:off x="0" y="-19050"/>
              <a:ext cx="14996160" cy="1664970"/>
            </a:xfrm>
            <a:prstGeom prst="rect">
              <a:avLst/>
            </a:prstGeom>
          </p:spPr>
          <p:txBody>
            <a:bodyPr lIns="0" tIns="0" rIns="0" bIns="0" rtlCol="0" anchor="ctr"/>
            <a:lstStyle/>
            <a:p>
              <a:pPr algn="ctr">
                <a:lnSpc>
                  <a:spcPts val="4320"/>
                </a:lnSpc>
              </a:pPr>
              <a:r>
                <a:rPr lang="en-US" sz="3600" b="1" spc="150">
                  <a:solidFill>
                    <a:srgbClr val="052B35"/>
                  </a:solidFill>
                  <a:latin typeface="Cambria Bold"/>
                  <a:ea typeface="Cambria Bold"/>
                  <a:cs typeface="Cambria Bold"/>
                  <a:sym typeface="Cambria Bold"/>
                </a:rPr>
                <a:t>INITIAL DIRECTION &amp; EXPECTED OUTCOME</a:t>
              </a:r>
            </a:p>
          </p:txBody>
        </p:sp>
      </p:grpSp>
      <p:grpSp>
        <p:nvGrpSpPr>
          <p:cNvPr id="22" name="Group 22"/>
          <p:cNvGrpSpPr/>
          <p:nvPr/>
        </p:nvGrpSpPr>
        <p:grpSpPr>
          <a:xfrm>
            <a:off x="678656" y="472916"/>
            <a:ext cx="3923347" cy="1248727"/>
            <a:chOff x="0" y="0"/>
            <a:chExt cx="5231130" cy="1664970"/>
          </a:xfrm>
        </p:grpSpPr>
        <p:sp>
          <p:nvSpPr>
            <p:cNvPr id="23" name="Freeform 23"/>
            <p:cNvSpPr/>
            <p:nvPr/>
          </p:nvSpPr>
          <p:spPr>
            <a:xfrm>
              <a:off x="0" y="0"/>
              <a:ext cx="5231130" cy="1664970"/>
            </a:xfrm>
            <a:custGeom>
              <a:avLst/>
              <a:gdLst/>
              <a:ahLst/>
              <a:cxnLst/>
              <a:rect l="l" t="t" r="r" b="b"/>
              <a:pathLst>
                <a:path w="5231130" h="166497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24" name="Group 24"/>
          <p:cNvGrpSpPr/>
          <p:nvPr/>
        </p:nvGrpSpPr>
        <p:grpSpPr>
          <a:xfrm>
            <a:off x="898112" y="678656"/>
            <a:ext cx="960692" cy="837248"/>
            <a:chOff x="0" y="0"/>
            <a:chExt cx="1280922" cy="1116330"/>
          </a:xfrm>
        </p:grpSpPr>
        <p:sp>
          <p:nvSpPr>
            <p:cNvPr id="25" name="Freeform 25"/>
            <p:cNvSpPr/>
            <p:nvPr/>
          </p:nvSpPr>
          <p:spPr>
            <a:xfrm>
              <a:off x="0" y="0"/>
              <a:ext cx="1280922" cy="1116330"/>
            </a:xfrm>
            <a:custGeom>
              <a:avLst/>
              <a:gdLst/>
              <a:ahLst/>
              <a:cxnLst/>
              <a:rect l="l" t="t" r="r" b="b"/>
              <a:pathLst>
                <a:path w="1280922" h="1116330">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id="26" name="Group 26"/>
          <p:cNvGrpSpPr/>
          <p:nvPr/>
        </p:nvGrpSpPr>
        <p:grpSpPr>
          <a:xfrm>
            <a:off x="1104138" y="822960"/>
            <a:ext cx="548640" cy="548640"/>
            <a:chOff x="0" y="0"/>
            <a:chExt cx="731520" cy="731520"/>
          </a:xfrm>
        </p:grpSpPr>
        <p:sp>
          <p:nvSpPr>
            <p:cNvPr id="27" name="Freeform 27" descr="Team icon"/>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5"/>
              <a:stretch>
                <a:fillRect/>
              </a:stretch>
            </a:blipFill>
          </p:spPr>
        </p:sp>
      </p:grpSp>
      <p:grpSp>
        <p:nvGrpSpPr>
          <p:cNvPr id="28" name="Group 28"/>
          <p:cNvGrpSpPr/>
          <p:nvPr/>
        </p:nvGrpSpPr>
        <p:grpSpPr>
          <a:xfrm>
            <a:off x="2057400" y="576072"/>
            <a:ext cx="2441448" cy="1042416"/>
            <a:chOff x="0" y="0"/>
            <a:chExt cx="3255264" cy="1389888"/>
          </a:xfrm>
        </p:grpSpPr>
        <p:sp>
          <p:nvSpPr>
            <p:cNvPr id="29" name="Freeform 29"/>
            <p:cNvSpPr/>
            <p:nvPr/>
          </p:nvSpPr>
          <p:spPr>
            <a:xfrm>
              <a:off x="0" y="0"/>
              <a:ext cx="3255264" cy="1389888"/>
            </a:xfrm>
            <a:custGeom>
              <a:avLst/>
              <a:gdLst/>
              <a:ahLst/>
              <a:cxnLst/>
              <a:rect l="l" t="t" r="r" b="b"/>
              <a:pathLst>
                <a:path w="3255264" h="1389888">
                  <a:moveTo>
                    <a:pt x="0" y="0"/>
                  </a:moveTo>
                  <a:lnTo>
                    <a:pt x="3255264" y="0"/>
                  </a:lnTo>
                  <a:lnTo>
                    <a:pt x="3255264" y="1389888"/>
                  </a:lnTo>
                  <a:lnTo>
                    <a:pt x="0" y="1389888"/>
                  </a:lnTo>
                  <a:close/>
                </a:path>
              </a:pathLst>
            </a:custGeom>
            <a:blipFill>
              <a:blip r:embed="rId4">
                <a:alphaModFix amt="0"/>
              </a:blip>
              <a:stretch>
                <a:fillRect l="-4781" r="-4781"/>
              </a:stretch>
            </a:blipFill>
          </p:spPr>
        </p:sp>
        <p:sp>
          <p:nvSpPr>
            <p:cNvPr id="30" name="TextBox 30"/>
            <p:cNvSpPr txBox="1"/>
            <p:nvPr/>
          </p:nvSpPr>
          <p:spPr>
            <a:xfrm>
              <a:off x="0" y="-28575"/>
              <a:ext cx="3255264" cy="1418463"/>
            </a:xfrm>
            <a:prstGeom prst="rect">
              <a:avLst/>
            </a:prstGeom>
          </p:spPr>
          <p:txBody>
            <a:bodyPr lIns="0" tIns="0" rIns="0" bIns="0" rtlCol="0" anchor="ctr"/>
            <a:lstStyle/>
            <a:p>
              <a:pPr algn="l">
                <a:lnSpc>
                  <a:spcPts val="1620"/>
                </a:lnSpc>
              </a:pPr>
              <a:r>
                <a:rPr lang="en-US" sz="1350" b="1" spc="449">
                  <a:solidFill>
                    <a:srgbClr val="5B6F6B"/>
                  </a:solidFill>
                  <a:latin typeface="Calibri (MS) Bold"/>
                  <a:ea typeface="Calibri (MS) Bold"/>
                  <a:cs typeface="Calibri (MS) Bold"/>
                  <a:sym typeface="Calibri (MS) Bold"/>
                </a:rPr>
                <a:t>TEAM</a:t>
              </a:r>
            </a:p>
            <a:p>
              <a:pPr algn="l">
                <a:lnSpc>
                  <a:spcPts val="2700"/>
                </a:lnSpc>
              </a:pPr>
              <a:r>
                <a:rPr lang="en-US" sz="2250" b="1" spc="749">
                  <a:solidFill>
                    <a:srgbClr val="026855"/>
                  </a:solidFill>
                  <a:latin typeface="Calibri (MS) Bold"/>
                  <a:ea typeface="Calibri (MS) Bold"/>
                  <a:cs typeface="Calibri (MS) Bold"/>
                  <a:sym typeface="Calibri (MS) Bold"/>
                </a:rPr>
                <a:t>AURA</a:t>
              </a:r>
            </a:p>
          </p:txBody>
        </p:sp>
      </p:grpSp>
      <p:grpSp>
        <p:nvGrpSpPr>
          <p:cNvPr id="31" name="Group 31"/>
          <p:cNvGrpSpPr/>
          <p:nvPr/>
        </p:nvGrpSpPr>
        <p:grpSpPr>
          <a:xfrm>
            <a:off x="822960" y="2194560"/>
            <a:ext cx="685800" cy="593903"/>
            <a:chOff x="0" y="0"/>
            <a:chExt cx="914400" cy="791870"/>
          </a:xfrm>
        </p:grpSpPr>
        <p:sp>
          <p:nvSpPr>
            <p:cNvPr id="32" name="Freeform 3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33" name="Group 33"/>
          <p:cNvGrpSpPr/>
          <p:nvPr/>
        </p:nvGrpSpPr>
        <p:grpSpPr>
          <a:xfrm>
            <a:off x="960120" y="2285086"/>
            <a:ext cx="411480" cy="411480"/>
            <a:chOff x="0" y="0"/>
            <a:chExt cx="548640" cy="548640"/>
          </a:xfrm>
        </p:grpSpPr>
        <p:sp>
          <p:nvSpPr>
            <p:cNvPr id="34" name="Freeform 34" descr="Lightbulb icon"/>
            <p:cNvSpPr/>
            <p:nvPr/>
          </p:nvSpPr>
          <p:spPr>
            <a:xfrm>
              <a:off x="0" y="0"/>
              <a:ext cx="548640" cy="548640"/>
            </a:xfrm>
            <a:custGeom>
              <a:avLst/>
              <a:gdLst/>
              <a:ahLst/>
              <a:cxnLst/>
              <a:rect l="l" t="t" r="r" b="b"/>
              <a:pathLst>
                <a:path w="548640" h="548640">
                  <a:moveTo>
                    <a:pt x="0" y="0"/>
                  </a:moveTo>
                  <a:lnTo>
                    <a:pt x="548640" y="0"/>
                  </a:lnTo>
                  <a:lnTo>
                    <a:pt x="548640" y="548640"/>
                  </a:lnTo>
                  <a:lnTo>
                    <a:pt x="0" y="548640"/>
                  </a:lnTo>
                  <a:lnTo>
                    <a:pt x="0" y="0"/>
                  </a:lnTo>
                  <a:close/>
                </a:path>
              </a:pathLst>
            </a:custGeom>
            <a:blipFill>
              <a:blip r:embed="rId6"/>
              <a:stretch>
                <a:fillRect/>
              </a:stretch>
            </a:blipFill>
          </p:spPr>
        </p:sp>
      </p:grpSp>
      <p:grpSp>
        <p:nvGrpSpPr>
          <p:cNvPr id="35" name="Group 35"/>
          <p:cNvGrpSpPr/>
          <p:nvPr/>
        </p:nvGrpSpPr>
        <p:grpSpPr>
          <a:xfrm>
            <a:off x="1755648" y="2125980"/>
            <a:ext cx="14401800" cy="754380"/>
            <a:chOff x="0" y="0"/>
            <a:chExt cx="19202400" cy="1005840"/>
          </a:xfrm>
        </p:grpSpPr>
        <p:sp>
          <p:nvSpPr>
            <p:cNvPr id="36" name="Freeform 36"/>
            <p:cNvSpPr/>
            <p:nvPr/>
          </p:nvSpPr>
          <p:spPr>
            <a:xfrm>
              <a:off x="0" y="0"/>
              <a:ext cx="19202400" cy="1005840"/>
            </a:xfrm>
            <a:custGeom>
              <a:avLst/>
              <a:gdLst/>
              <a:ahLst/>
              <a:cxnLst/>
              <a:rect l="l" t="t" r="r" b="b"/>
              <a:pathLst>
                <a:path w="19202400" h="1005840">
                  <a:moveTo>
                    <a:pt x="0" y="0"/>
                  </a:moveTo>
                  <a:lnTo>
                    <a:pt x="19202400" y="0"/>
                  </a:lnTo>
                  <a:lnTo>
                    <a:pt x="19202400" y="1005840"/>
                  </a:lnTo>
                  <a:lnTo>
                    <a:pt x="0" y="1005840"/>
                  </a:lnTo>
                  <a:close/>
                </a:path>
              </a:pathLst>
            </a:custGeom>
            <a:blipFill>
              <a:blip r:embed="rId4">
                <a:alphaModFix amt="0"/>
              </a:blip>
              <a:stretch>
                <a:fillRect t="-321987" b="-321987"/>
              </a:stretch>
            </a:blipFill>
          </p:spPr>
        </p:sp>
        <p:sp>
          <p:nvSpPr>
            <p:cNvPr id="37" name="TextBox 37"/>
            <p:cNvSpPr txBox="1"/>
            <p:nvPr/>
          </p:nvSpPr>
          <p:spPr>
            <a:xfrm>
              <a:off x="0" y="-57150"/>
              <a:ext cx="19202400" cy="1062990"/>
            </a:xfrm>
            <a:prstGeom prst="rect">
              <a:avLst/>
            </a:prstGeom>
          </p:spPr>
          <p:txBody>
            <a:bodyPr lIns="0" tIns="0" rIns="0" bIns="0" rtlCol="0" anchor="ctr"/>
            <a:lstStyle/>
            <a:p>
              <a:pPr algn="l">
                <a:lnSpc>
                  <a:spcPts val="3240"/>
                </a:lnSpc>
              </a:pPr>
              <a:r>
                <a:rPr lang="en-US" sz="2700" b="1">
                  <a:solidFill>
                    <a:srgbClr val="094542"/>
                  </a:solidFill>
                  <a:latin typeface="Calibri (MS) Bold"/>
                  <a:ea typeface="Calibri (MS) Bold"/>
                  <a:cs typeface="Calibri (MS) Bold"/>
                  <a:sym typeface="Calibri (MS) Bold"/>
                </a:rPr>
                <a:t>What Is Your Expected Outcome?</a:t>
              </a:r>
            </a:p>
          </p:txBody>
        </p:sp>
      </p:grpSp>
      <p:sp>
        <p:nvSpPr>
          <p:cNvPr id="38" name="TextBox 38"/>
          <p:cNvSpPr txBox="1"/>
          <p:nvPr/>
        </p:nvSpPr>
        <p:spPr>
          <a:xfrm>
            <a:off x="1595171" y="3057825"/>
            <a:ext cx="15636240" cy="5381625"/>
          </a:xfrm>
          <a:prstGeom prst="rect">
            <a:avLst/>
          </a:prstGeom>
        </p:spPr>
        <p:txBody>
          <a:bodyPr lIns="0" tIns="0" rIns="0" bIns="0" rtlCol="0" anchor="t">
            <a:spAutoFit/>
          </a:bodyPr>
          <a:lstStyle/>
          <a:p>
            <a:pPr algn="l">
              <a:lnSpc>
                <a:spcPts val="3240"/>
              </a:lnSpc>
            </a:pPr>
            <a:r>
              <a:rPr lang="en-US" sz="2700" b="1">
                <a:solidFill>
                  <a:srgbClr val="0E2A2F"/>
                </a:solidFill>
                <a:latin typeface="Calibri (MS) Bold"/>
                <a:ea typeface="Calibri (MS) Bold"/>
                <a:cs typeface="Calibri (MS) Bold"/>
                <a:sym typeface="Calibri (MS) Bold"/>
              </a:rPr>
              <a:t>What our team intends to do</a:t>
            </a:r>
          </a:p>
          <a:p>
            <a:pPr marL="488632" lvl="1" indent="-244316" algn="l">
              <a:lnSpc>
                <a:spcPts val="3240"/>
              </a:lnSpc>
              <a:buFont typeface="Arial"/>
              <a:buChar char="•"/>
            </a:pPr>
            <a:r>
              <a:rPr lang="en-US" sz="2700">
                <a:solidFill>
                  <a:srgbClr val="0E2A2F"/>
                </a:solidFill>
                <a:latin typeface="Calibri (MS)"/>
                <a:ea typeface="Calibri (MS)"/>
                <a:cs typeface="Calibri (MS)"/>
                <a:sym typeface="Calibri (MS)"/>
              </a:rPr>
              <a:t> Build an AI model that analyzes an individual’s DNA sequence to flag disease-linked variants, predict disease risk early, and recommend personalized treatment, delivered to doctors through a simple, explainable dashboard.</a:t>
            </a:r>
          </a:p>
          <a:p>
            <a:pPr algn="l">
              <a:lnSpc>
                <a:spcPts val="3240"/>
              </a:lnSpc>
            </a:pPr>
            <a:r>
              <a:rPr lang="en-US" sz="2700" b="1">
                <a:solidFill>
                  <a:srgbClr val="0E2A2F"/>
                </a:solidFill>
                <a:latin typeface="Calibri (MS) Bold"/>
                <a:ea typeface="Calibri (MS) Bold"/>
                <a:cs typeface="Calibri (MS) Bold"/>
                <a:sym typeface="Calibri (MS) Bold"/>
              </a:rPr>
              <a:t>What we want to improve</a:t>
            </a:r>
          </a:p>
          <a:p>
            <a:pPr marL="488632" lvl="1" indent="-244316" algn="l">
              <a:lnSpc>
                <a:spcPts val="3240"/>
              </a:lnSpc>
              <a:buFont typeface="Arial"/>
              <a:buChar char="•"/>
            </a:pPr>
            <a:r>
              <a:rPr lang="en-US" sz="2700">
                <a:solidFill>
                  <a:srgbClr val="0E2A2F"/>
                </a:solidFill>
                <a:latin typeface="Calibri (MS)"/>
                <a:ea typeface="Calibri (MS)"/>
                <a:cs typeface="Calibri (MS)"/>
                <a:sym typeface="Calibri (MS)"/>
              </a:rPr>
              <a:t>Speed and cost of interpreting DNA data</a:t>
            </a:r>
          </a:p>
          <a:p>
            <a:pPr marL="488632" lvl="1" indent="-244316" algn="l">
              <a:lnSpc>
                <a:spcPts val="3240"/>
              </a:lnSpc>
              <a:buFont typeface="Arial"/>
              <a:buChar char="•"/>
            </a:pPr>
            <a:r>
              <a:rPr lang="en-US" sz="2700">
                <a:solidFill>
                  <a:srgbClr val="0E2A2F"/>
                </a:solidFill>
                <a:latin typeface="Calibri (MS)"/>
                <a:ea typeface="Calibri (MS)"/>
                <a:cs typeface="Calibri (MS)"/>
                <a:sym typeface="Calibri (MS)"/>
              </a:rPr>
              <a:t>Accuracy of predictions for Indian and underrepresented populations</a:t>
            </a:r>
          </a:p>
          <a:p>
            <a:pPr marL="488632" lvl="1" indent="-244316" algn="l">
              <a:lnSpc>
                <a:spcPts val="3240"/>
              </a:lnSpc>
              <a:buFont typeface="Arial"/>
              <a:buChar char="•"/>
            </a:pPr>
            <a:r>
              <a:rPr lang="en-US" sz="2700">
                <a:solidFill>
                  <a:srgbClr val="0E2A2F"/>
                </a:solidFill>
                <a:latin typeface="Calibri (MS)"/>
                <a:ea typeface="Calibri (MS)"/>
                <a:cs typeface="Calibri (MS)"/>
                <a:sym typeface="Calibri (MS)"/>
              </a:rPr>
              <a:t>Early detection of disease, and drug choice matched to each patient</a:t>
            </a:r>
          </a:p>
          <a:p>
            <a:pPr algn="l">
              <a:lnSpc>
                <a:spcPts val="3240"/>
              </a:lnSpc>
            </a:pPr>
            <a:r>
              <a:rPr lang="en-US" sz="2700" b="1">
                <a:solidFill>
                  <a:srgbClr val="0E2A2F"/>
                </a:solidFill>
                <a:latin typeface="Calibri (MS) Bold"/>
                <a:ea typeface="Calibri (MS) Bold"/>
                <a:cs typeface="Calibri (MS) Bold"/>
                <a:sym typeface="Calibri (MS) Bold"/>
              </a:rPr>
              <a:t>What successful improvement looks like</a:t>
            </a:r>
          </a:p>
          <a:p>
            <a:pPr marL="488632" lvl="1" indent="-244316" algn="l">
              <a:lnSpc>
                <a:spcPts val="3240"/>
              </a:lnSpc>
              <a:buFont typeface="Arial"/>
              <a:buChar char="•"/>
            </a:pPr>
            <a:r>
              <a:rPr lang="en-US" sz="2700">
                <a:solidFill>
                  <a:srgbClr val="0E2A2F"/>
                </a:solidFill>
                <a:latin typeface="Calibri (MS)"/>
                <a:ea typeface="Calibri (MS)"/>
                <a:cs typeface="Calibri (MS)"/>
                <a:sym typeface="Calibri (MS)"/>
              </a:rPr>
              <a:t>Accurate variant and risk predictions validated against known clinical data</a:t>
            </a:r>
          </a:p>
          <a:p>
            <a:pPr marL="488632" lvl="1" indent="-244316" algn="l">
              <a:lnSpc>
                <a:spcPts val="3240"/>
              </a:lnSpc>
              <a:buFont typeface="Arial"/>
              <a:buChar char="•"/>
            </a:pPr>
            <a:r>
              <a:rPr lang="en-US" sz="2700">
                <a:solidFill>
                  <a:srgbClr val="0E2A2F"/>
                </a:solidFill>
                <a:latin typeface="Calibri (MS)"/>
                <a:ea typeface="Calibri (MS)"/>
                <a:cs typeface="Calibri (MS)"/>
                <a:sym typeface="Calibri (MS)"/>
              </a:rPr>
              <a:t>Reports generated in minutes instead of days or weeks</a:t>
            </a:r>
          </a:p>
          <a:p>
            <a:pPr marL="488632" lvl="1" indent="-244316" algn="l">
              <a:lnSpc>
                <a:spcPts val="3240"/>
              </a:lnSpc>
              <a:buFont typeface="Arial"/>
              <a:buChar char="•"/>
            </a:pPr>
            <a:r>
              <a:rPr lang="en-US" sz="2700">
                <a:solidFill>
                  <a:srgbClr val="0E2A2F"/>
                </a:solidFill>
                <a:latin typeface="Calibri (MS)"/>
                <a:ea typeface="Calibri (MS)"/>
                <a:cs typeface="Calibri (MS)"/>
                <a:sym typeface="Calibri (MS)"/>
              </a:rPr>
              <a:t>Fewer trial-and-error treatments and adverse drug reactions</a:t>
            </a:r>
          </a:p>
          <a:p>
            <a:pPr algn="l">
              <a:lnSpc>
                <a:spcPts val="3240"/>
              </a:lnSpc>
            </a:pPr>
            <a:endParaRPr lang="en-US" sz="2700">
              <a:solidFill>
                <a:srgbClr val="0E2A2F"/>
              </a:solidFill>
              <a:latin typeface="Calibri (MS)"/>
              <a:ea typeface="Calibri (MS)"/>
              <a:cs typeface="Calibri (MS)"/>
              <a:sym typeface="Calibri (MS)"/>
            </a:endParaRPr>
          </a:p>
        </p:txBody>
      </p:sp>
      <p:grpSp>
        <p:nvGrpSpPr>
          <p:cNvPr id="39" name="Group 39"/>
          <p:cNvGrpSpPr/>
          <p:nvPr/>
        </p:nvGrpSpPr>
        <p:grpSpPr>
          <a:xfrm>
            <a:off x="16888511" y="9614916"/>
            <a:ext cx="685800" cy="593903"/>
            <a:chOff x="0" y="0"/>
            <a:chExt cx="914400" cy="791870"/>
          </a:xfrm>
        </p:grpSpPr>
        <p:sp>
          <p:nvSpPr>
            <p:cNvPr id="40" name="Freeform 40"/>
            <p:cNvSpPr/>
            <p:nvPr/>
          </p:nvSpPr>
          <p:spPr>
            <a:xfrm>
              <a:off x="0" y="0"/>
              <a:ext cx="914400" cy="791870"/>
            </a:xfrm>
            <a:custGeom>
              <a:avLst/>
              <a:gdLst/>
              <a:ahLst/>
              <a:cxnLst/>
              <a:rect l="l" t="t" r="r" b="b"/>
              <a:pathLst>
                <a:path w="914400" h="791870">
                  <a:moveTo>
                    <a:pt x="0" y="0"/>
                  </a:moveTo>
                  <a:lnTo>
                    <a:pt x="914400" y="0"/>
                  </a:lnTo>
                  <a:lnTo>
                    <a:pt x="914400" y="791870"/>
                  </a:lnTo>
                  <a:lnTo>
                    <a:pt x="0" y="791870"/>
                  </a:lnTo>
                  <a:close/>
                </a:path>
              </a:pathLst>
            </a:custGeom>
            <a:blipFill>
              <a:blip r:embed="rId4">
                <a:alphaModFix amt="0"/>
              </a:blip>
              <a:stretch>
                <a:fillRect l="-61110" r="-61110"/>
              </a:stretch>
            </a:blipFill>
          </p:spPr>
        </p:sp>
        <p:sp>
          <p:nvSpPr>
            <p:cNvPr id="41" name="TextBox 41"/>
            <p:cNvSpPr txBox="1"/>
            <p:nvPr/>
          </p:nvSpPr>
          <p:spPr>
            <a:xfrm>
              <a:off x="0" y="-28575"/>
              <a:ext cx="914400" cy="820445"/>
            </a:xfrm>
            <a:prstGeom prst="rect">
              <a:avLst/>
            </a:prstGeom>
          </p:spPr>
          <p:txBody>
            <a:bodyPr lIns="0" tIns="0" rIns="0" bIns="0" rtlCol="0" anchor="ctr"/>
            <a:lstStyle/>
            <a:p>
              <a:pPr algn="ctr">
                <a:lnSpc>
                  <a:spcPts val="1980"/>
                </a:lnSpc>
              </a:pPr>
              <a:r>
                <a:rPr lang="en-US" sz="1650" b="1">
                  <a:solidFill>
                    <a:srgbClr val="052B35"/>
                  </a:solidFill>
                  <a:latin typeface="Calibri (MS) Bold"/>
                  <a:ea typeface="Calibri (MS) Bold"/>
                  <a:cs typeface="Calibri (MS) Bold"/>
                  <a:sym typeface="Calibri (MS) Bold"/>
                </a:rPr>
                <a:t>8</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1126</Words>
  <Application>Microsoft Office PowerPoint</Application>
  <PresentationFormat>Custom</PresentationFormat>
  <Paragraphs>161</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Calibri (MS) Bold</vt:lpstr>
      <vt:lpstr>Calibri (MS)</vt:lpstr>
      <vt:lpstr>Arial</vt:lpstr>
      <vt:lpstr>Cambria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Genesis_PreIdeathon_Template.pptx</dc:title>
  <dc:creator>Rohith vardhineedi</dc:creator>
  <cp:lastModifiedBy>Vardhineedi Rohith Madhu Krishna - [CB.SC.U4CSE26062]</cp:lastModifiedBy>
  <cp:revision>2</cp:revision>
  <dcterms:created xsi:type="dcterms:W3CDTF">2006-08-16T00:00:00Z</dcterms:created>
  <dcterms:modified xsi:type="dcterms:W3CDTF">2026-10-09T17:55:17Z</dcterms:modified>
  <dc:identifier>DAHXh7omaGw</dc:identifier>
</cp:coreProperties>
</file>